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6858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6F9E"/>
                </a:solidFill>
                <a:latin typeface="Arial"/>
              </a:rPr>
              <a:t>INFO1185 ·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7772400" cy="1645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263238"/>
                </a:solidFill>
                <a:latin typeface="Arial"/>
              </a:rPr>
              <a:t>Detección
de fraude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7315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rial"/>
              </a:rPr>
              <a:t>Comparación de clasificadores supervisados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7772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A8B4C0"/>
                </a:solidFill>
                <a:latin typeface="Arial"/>
              </a:rPr>
              <a:t>Prioridad: detectar fraudes y reducir falsos negativos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6400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Integrantes: Fernando Alonso Valdés Gómez · Juan Francisco Muñoz Veloso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371600"/>
            <a:ext cx="256032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19" y="1554480"/>
            <a:ext cx="21945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19" y="2084832"/>
            <a:ext cx="2194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clasificadores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3200400"/>
            <a:ext cx="256032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3383280"/>
            <a:ext cx="21945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19" y="3913632"/>
            <a:ext cx="2194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condiciones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212080"/>
            <a:ext cx="3474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k-NN · árbol · SVM · Random Forest propio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01 ·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El fraude es poco frecuente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02</a:t>
            </a:r>
          </a:p>
        </p:txBody>
      </p:sp>
      <p:pic>
        <p:nvPicPr>
          <p:cNvPr id="8" name="Picture 7" descr="distribucion_cl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640080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64592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828800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284.807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transacciones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164592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1828800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492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235915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fraudes · 0,173 %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356616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3749039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1.081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27939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duplicados exactos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356616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3749039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27939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valores faltantes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5486400"/>
            <a:ext cx="37490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Se quitaron duplicados antes de separar los datos. Quedaron 283.726 filas y 473 fraudes.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02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Partición fija y prueba reservada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92608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198.608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entrenamiento completo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00200"/>
            <a:ext cx="292608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submuestra estratificada para búsqueda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600200"/>
            <a:ext cx="292608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85.118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prueba reservada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6732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57600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Partición estratificada 70/30, semilla 42; los ocho experimentos comparten la misma partición.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297680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187952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5 pliegues estratificados y compartidos para comparar los modelos.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82803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718304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Tras la búsqueda, cada ganador se reajusta con todo el entrenamiento.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35838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248656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test conserva la prevalencia natural y no participa en ajustes.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03 ·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Ocho experimentos, una misma validación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5486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280160"/>
                <a:gridCol w="12801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3238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3238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3238"/>
                          </a:solidFill>
                          <a:latin typeface="Arial"/>
                        </a:rPr>
                        <a:t>Con submuestreo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1600200"/>
            <a:ext cx="4114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E6F9E"/>
                </a:solidFill>
                <a:latin typeface="Arial"/>
              </a:rPr>
              <a:t>Dentro de cada pliegue</a:t>
            </a:r>
          </a:p>
        </p:txBody>
      </p:sp>
      <p:sp>
        <p:nvSpPr>
          <p:cNvPr id="10" name="Oval 9"/>
          <p:cNvSpPr/>
          <p:nvPr/>
        </p:nvSpPr>
        <p:spPr>
          <a:xfrm>
            <a:off x="6720840" y="221284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58583" y="2103120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Escalado para k-NN y SVM.</a:t>
            </a:r>
          </a:p>
        </p:txBody>
      </p:sp>
      <p:sp>
        <p:nvSpPr>
          <p:cNvPr id="12" name="Oval 11"/>
          <p:cNvSpPr/>
          <p:nvPr/>
        </p:nvSpPr>
        <p:spPr>
          <a:xfrm>
            <a:off x="6720840" y="2871215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58583" y="2761487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ANOVA F-test: se seleccionan las 20 mejores variables.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352958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58583" y="3419856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RandomUnderSampler 1:10 solo en entrenamiento.</a:t>
            </a:r>
          </a:p>
        </p:txBody>
      </p:sp>
      <p:sp>
        <p:nvSpPr>
          <p:cNvPr id="16" name="Oval 15"/>
          <p:cNvSpPr/>
          <p:nvPr/>
        </p:nvSpPr>
        <p:spPr>
          <a:xfrm>
            <a:off x="6720840" y="418795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8583" y="4078224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Validación y prueba mantienen su distribución original.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04 · ENSAMBLE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Random Forest implementado por la dupla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246120" cy="1828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Bootstrap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n extracciones con reemplazo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423160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3246120" cy="1828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Árbol independiente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max_features = √p por división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423160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828800"/>
            <a:ext cx="3246120" cy="1828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Votación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mayoría; empate a favor del fraude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5196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63238"/>
                </a:solidFill>
                <a:latin typeface="Arial"/>
              </a:rPr>
              <a:t>Configuración elegida en CV: {"max_depth": 6, "n_estimators": 21}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5156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Las semillas de árboles derivan de una semilla general y son distintas entre sí. El código no usa RandomForestClassifier ni BaggingClassifier.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05 · AJUSTE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Selección por sensibilidad y precisión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9260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pliegues estratificados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45920"/>
            <a:ext cx="29260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filas de entrenamiento para CV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1645920"/>
            <a:ext cx="29260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20 /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variables conservadas por ANOVA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6732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57600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Primero se maximiza la sensibilidad media de Class = 1.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334256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224528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Si empatan, se elige la configuración con mayor precisión media del fraude.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90118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791456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Elegida: Random Forest propio con submuestreo 1:10, sensibilidad 87,9 % ± 5,5 % y precisión 45,0 % en CV.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46811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358383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Los hiperparámetros finales se ajustan de nuevo con las 198.608 filas de entrenamiento.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06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La compensación eleva la sensibilidad en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07</a:t>
            </a:r>
          </a:p>
        </p:txBody>
      </p:sp>
      <p:pic>
        <p:nvPicPr>
          <p:cNvPr id="8" name="Picture 7" descr="sensibilidad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60704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8704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Barras: media de cinco pliegues. Líneas: una desviación estándar entre pliegues.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07 ·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Prueba reservada: sensibilidad y falsos negativos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08</a:t>
            </a:r>
          </a:p>
        </p:txBody>
      </p:sp>
      <p:pic>
        <p:nvPicPr>
          <p:cNvPr id="8" name="Picture 7" descr="sensibilidad_fnr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89320"/>
            <a:ext cx="105156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Media ± desviación estándar entre cinco semillas; el mismo test se usa en todas las repeticiones.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08 ·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Detectar más fraudes genera más alertas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09</a:t>
            </a:r>
          </a:p>
        </p:txBody>
      </p:sp>
      <p:pic>
        <p:nvPicPr>
          <p:cNvPr id="8" name="Picture 7" descr="precision_especificidad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El submuestreo mejora la sensibilidad, pero reduce la precisión: una mayor proporción de alertas es falsa.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09 ·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Matriz de confusión de la configuración elegida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matriz_confusion_selecc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5029200" cy="4206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64592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5915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fraudes detectados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164592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59" y="182880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235915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fraudes omitidos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42900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61188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14223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falsas alarmas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342900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361188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84.923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414223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legítimas reconocidas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429768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Random Forest propio · submuestreo 1:10 · semilla 42. La selección se hizo con CV; la matriz usa el primer ajuste en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10 ·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Lectura crítica de los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108960" cy="16916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99,833 %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exactitud si todo se predice legítimo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Sensibilidad: 0 %. FNR: 100 %.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108960" cy="16916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76,2 % → 80,4 %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sensibilidad del bosque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Sin compensación → con submuestreo.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600200"/>
            <a:ext cx="3108960" cy="16916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67,5 %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precisión del bosque compensado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La parte restante de alertas son falsas alarmas.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08736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77639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La exactitud sola oculta los fraudes que el modelo deja pasar.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4709159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599431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Clasificar todo como fraude daría sensibilidad 100 %, pero marcaría como falsas alarmas las 84.976 transacciones legítimas del test.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533095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5221224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bosque con submuestreo detecta 2,7 puntos porcentuales menos que el árbol compensado, pero eleva la precisión de 0,336 a 0,675.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11 ·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Conclusiones y límites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108960" cy="16459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80,4 %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sensibilidad en prueba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FNR 19,6 % · precisión 67,5 %</a:t>
            </a:r>
          </a:p>
        </p:txBody>
      </p:sp>
      <p:sp>
        <p:nvSpPr>
          <p:cNvPr id="12" name="Oval 11"/>
          <p:cNvSpPr/>
          <p:nvPr/>
        </p:nvSpPr>
        <p:spPr>
          <a:xfrm>
            <a:off x="4251960" y="175564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645920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CV eligió Random Forest propio con submuestreo por obtener la mayor sensibilidad media.</a:t>
            </a:r>
          </a:p>
        </p:txBody>
      </p:sp>
      <p:sp>
        <p:nvSpPr>
          <p:cNvPr id="14" name="Oval 13"/>
          <p:cNvSpPr/>
          <p:nvPr/>
        </p:nvSpPr>
        <p:spPr>
          <a:xfrm>
            <a:off x="4251960" y="2505456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395728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submuestreo aumentó la detección de fraudes y también produjo más falsas alarmas.</a:t>
            </a:r>
          </a:p>
        </p:txBody>
      </p:sp>
      <p:sp>
        <p:nvSpPr>
          <p:cNvPr id="16" name="Oval 15"/>
          <p:cNvSpPr/>
          <p:nvPr/>
        </p:nvSpPr>
        <p:spPr>
          <a:xfrm>
            <a:off x="4251960" y="325526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3145536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test contiene solo 142 fraudes; las métricas de sensibilidad cambian con pocos casos.</a:t>
            </a:r>
          </a:p>
        </p:txBody>
      </p:sp>
      <p:sp>
        <p:nvSpPr>
          <p:cNvPr id="18" name="Oval 17"/>
          <p:cNvSpPr/>
          <p:nvPr/>
        </p:nvSpPr>
        <p:spPr>
          <a:xfrm>
            <a:off x="4251960" y="400507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3895344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dataset no trae identificador de transacción; algunas filas idénticas podrían ser operaciones reales repetidas.</a:t>
            </a:r>
          </a:p>
        </p:txBody>
      </p:sp>
      <p:sp>
        <p:nvSpPr>
          <p:cNvPr id="20" name="Oval 19"/>
          <p:cNvSpPr/>
          <p:nvPr/>
        </p:nvSpPr>
        <p:spPr>
          <a:xfrm>
            <a:off x="4251960" y="4754880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4645152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SVM lineal y ANOVA son decisiones acotadas para esta comparación; se podrían ampliar los espacios de búsqueda.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5156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Siguiente paso: ambos integrantes deben poder explicar la implementación, las métricas y el costo operativo de las falsas alarmas.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RESPALDO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Configuraciones y resultados de validación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43000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5 pliegues compartidos · sensibilidad y precisión de fraude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3200400"/>
                <a:gridCol w="24688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Condición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Mejores parámetros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Sensibilidad ± DE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Precisión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n_neighbors=3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79,3 % ± 8,6 %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91,2 %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n_neighbors=3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86,6 % ± 6,1 %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37,5 %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max_depth=5, min_samples_leaf=5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69,6 % ± 18,4 %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79,8 %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max_depth=5, min_samples_leaf=5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85,4 % ± 6,4 %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18,6 %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C=10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58,7 % ± 15,6 %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88,5 %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C=10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86,5 % ± 9,3 %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21,2 %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max_depth=12, n_estimators=21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74,3 % ± 14,7 %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91,6 %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✓ 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max_depth=6, n_estimators=21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87,9 % ± 5,5 %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45,0 %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33872"/>
            <a:ext cx="1097280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Rangos evaluados: k-NN n_neighbors=3, 5, 7; Árbol de decisión max_depth=5, 10, libre; min_samples_leaf=1, 5; SVM lineal C=0,1, 1, 10; Random Forest propio n_estimators=11, 21; max_depth=6, 12. El bosque usa max_features=√p.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RESPALDO · MÉTRICAS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Resultados completos de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43000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Media ± desviación estándar entre semillas; resultados de CV y prueba se reportan por separado.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09270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417320"/>
                <a:gridCol w="1463040"/>
                <a:gridCol w="1325880"/>
                <a:gridCol w="1188720"/>
                <a:gridCol w="1325880"/>
                <a:gridCol w="1143000"/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Condición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Sensibilidad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Especificidad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Precisión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Exactitud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FNR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74,6 %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99,996 % ± 0,000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97,2 %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84,5 %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99,95 % ± 0,00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25,4 %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83,4 % ± 0,6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99,681 % ± 0,056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30,7 % ± 3,7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44,8 % ± 3,9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99,65 % ± 0,06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16,6 % ± 0,6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63,5 % ± 0,3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99,990 % ± 0,002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91,1 % ± 1,2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74,9 % ± 0,4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99,93 % ± 0,00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36,5 % ± 0,3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83,1 % ± 2,7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99,692 % ± 0,138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33,6 % ± 10,1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47,0 % ± 9,6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99,66 % ± 0,13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16,9 % ± 2,7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52,1 %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99,987 % ± 0,000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87,1 %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65,2 %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99,91 % ± 0,00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47,9 %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81,0 %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99,885 % ± 0,036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54,8 % ± 7,4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65,2 % ± 5,4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99,85 % ± 0,04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19,0 % ± 0,0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76,2 % ± 1,2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99,993 % ± 0,002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94,6 % ± 1,0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84,4 % ± 0,6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99,95 % ± 0,00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23,8 % ± 1,2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80,4 % ± 0,3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99,935 % ± 0,014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67,5 % ± 4,6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73,3 % ± 2,8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99,90 % ± 0,01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19,6 % ± 0,3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15000"/>
            <a:ext cx="105156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Las desviaciones reflejan cinco semillas sobre el mismo test fijo; no son cinco muestras independientes.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fraude con aprendizaje supervisado</dc:title>
  <dc:subject>INFO1185 · Problema 2</dc:subject>
  <dc:creator>Equipo INFO1185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