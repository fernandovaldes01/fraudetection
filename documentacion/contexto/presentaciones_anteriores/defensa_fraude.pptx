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94360"/>
            <a:ext cx="6858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2E6F9E"/>
                </a:solidFill>
                <a:latin typeface="Arial"/>
              </a:rPr>
              <a:t>INFO1185 · INTELIGENCIA ARTIFICIAL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325880"/>
            <a:ext cx="7772400" cy="1645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800" b="1">
                <a:solidFill>
                  <a:srgbClr val="263238"/>
                </a:solidFill>
                <a:latin typeface="Arial"/>
              </a:rPr>
              <a:t>Detección
de fraude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246120"/>
            <a:ext cx="7315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0">
                <a:solidFill>
                  <a:srgbClr val="64748B"/>
                </a:solidFill>
                <a:latin typeface="Arial"/>
              </a:rPr>
              <a:t>Comparación de clasificadores supervisados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977639"/>
            <a:ext cx="77724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A8B4C0"/>
                </a:solidFill>
                <a:latin typeface="Arial"/>
              </a:rPr>
              <a:t>Prioridad: detectar fraudes y reducir falsos negativos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5806440"/>
            <a:ext cx="6400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Integrantes: Fernando Alonso Valdés Gómez · Juan Francisco Muñoz Veloso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778240" y="1371600"/>
            <a:ext cx="256032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961119" y="1554480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19" y="208483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clasificadores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778240" y="3200400"/>
            <a:ext cx="256032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19" y="3383280"/>
            <a:ext cx="21945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61119" y="3913632"/>
            <a:ext cx="21945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condiciones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5212080"/>
            <a:ext cx="347472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k-NN · árbol de decisión · SVM · Random Forest propio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01 · DATOS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El fraude es poco frecuente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02</a:t>
            </a:r>
          </a:p>
        </p:txBody>
      </p:sp>
      <p:pic>
        <p:nvPicPr>
          <p:cNvPr id="8" name="Picture 7" descr="distribucion_cla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508760"/>
            <a:ext cx="6400800" cy="40233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15200" y="1645920"/>
            <a:ext cx="182880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79" y="1828800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284.807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235915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transacciones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372600" y="1645920"/>
            <a:ext cx="182880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555480" y="1828800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492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55480" y="235915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fraudes · 0,173 %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0" y="3566160"/>
            <a:ext cx="182880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79" y="3749039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1.081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98079" y="427939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duplicados exactos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372600" y="3566160"/>
            <a:ext cx="182880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555480" y="3749039"/>
            <a:ext cx="146304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4279392"/>
            <a:ext cx="146304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valores faltantes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60920" y="5486400"/>
            <a:ext cx="3749039" cy="5943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Se quitaron duplicados antes de separar los datos. Quedaron 283.726 filas y 473 fraudes.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02 ·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Partición fija y prueba reservada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00200"/>
            <a:ext cx="292608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59" y="178308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198.608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31343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entrenamiento completo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600200"/>
            <a:ext cx="292608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78308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50.000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31343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submuestra estratificada para búsqueda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949440" y="1600200"/>
            <a:ext cx="2926080" cy="16002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32320" y="178308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85.118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0" y="231343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prueba reservada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67328"/>
            <a:ext cx="100584" cy="100584"/>
          </a:xfrm>
          <a:prstGeom prst="ellipse">
            <a:avLst/>
          </a:prstGeom>
          <a:solidFill>
            <a:srgbClr val="A8B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657600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Partición estratificada 70/30, semilla 42; los ocho experimentos comparten la misma partición.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297680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187952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5 pliegues estratificados y compartidos para comparar los modelos.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828032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718304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Tras la búsqueda, cada ganador se reajusta con todo el entrenamiento.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358384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248656"/>
            <a:ext cx="10186416" cy="493775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El test conserva la prevalencia natural y no participa en ajustes.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03 · MÉTODO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Ocho experimentos, una misma validación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40080" y="1554480"/>
          <a:ext cx="548640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1280160"/>
                <a:gridCol w="1280160"/>
              </a:tblGrid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3238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3238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263238"/>
                          </a:solidFill>
                          <a:latin typeface="Arial"/>
                        </a:rPr>
                        <a:t>Con submuestreo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64748B"/>
                          </a:solidFill>
                          <a:latin typeface="Arial"/>
                        </a:rPr>
                        <a:t>✓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6720840" y="1600200"/>
            <a:ext cx="41148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E6F9E"/>
                </a:solidFill>
                <a:latin typeface="Arial"/>
              </a:rPr>
              <a:t>Dentro de cada pliegue</a:t>
            </a:r>
          </a:p>
        </p:txBody>
      </p:sp>
      <p:sp>
        <p:nvSpPr>
          <p:cNvPr id="10" name="Oval 9"/>
          <p:cNvSpPr/>
          <p:nvPr/>
        </p:nvSpPr>
        <p:spPr>
          <a:xfrm>
            <a:off x="6720840" y="2212848"/>
            <a:ext cx="100584" cy="100584"/>
          </a:xfrm>
          <a:prstGeom prst="ellipse">
            <a:avLst/>
          </a:prstGeom>
          <a:solidFill>
            <a:srgbClr val="A8B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58583" y="2103120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Escalado para k-NN y SVM.</a:t>
            </a:r>
          </a:p>
        </p:txBody>
      </p:sp>
      <p:sp>
        <p:nvSpPr>
          <p:cNvPr id="12" name="Oval 11"/>
          <p:cNvSpPr/>
          <p:nvPr/>
        </p:nvSpPr>
        <p:spPr>
          <a:xfrm>
            <a:off x="6720840" y="2871215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58583" y="2761487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ANOVA F-test: se seleccionan las 20 mejores variables.</a:t>
            </a:r>
          </a:p>
        </p:txBody>
      </p:sp>
      <p:sp>
        <p:nvSpPr>
          <p:cNvPr id="14" name="Oval 13"/>
          <p:cNvSpPr/>
          <p:nvPr/>
        </p:nvSpPr>
        <p:spPr>
          <a:xfrm>
            <a:off x="6720840" y="3529584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958583" y="3419856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RandomUnderSampler 1:10 solo en entrenamiento.</a:t>
            </a:r>
          </a:p>
        </p:txBody>
      </p:sp>
      <p:sp>
        <p:nvSpPr>
          <p:cNvPr id="16" name="Oval 15"/>
          <p:cNvSpPr/>
          <p:nvPr/>
        </p:nvSpPr>
        <p:spPr>
          <a:xfrm>
            <a:off x="6720840" y="4187952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58583" y="4078224"/>
            <a:ext cx="4334256" cy="6217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Validación y prueba mantienen su distribución original.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04 · ENSAMBLE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Random Forest implementado por la dupla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828800"/>
            <a:ext cx="324612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201168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54203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Bootstrap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907791"/>
            <a:ext cx="2880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n extracciones con reemplazo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23360" y="2423160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80560" y="1828800"/>
            <a:ext cx="324612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201168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54203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Árbol de decisión independiente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907791"/>
            <a:ext cx="2880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max_features = √p por división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18120" y="2423160"/>
            <a:ext cx="36576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400" b="0">
                <a:solidFill>
                  <a:srgbClr val="64748B"/>
                </a:solidFill>
                <a:latin typeface="Arial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1828800"/>
            <a:ext cx="3246120" cy="182880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58200" y="2011680"/>
            <a:ext cx="288036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542032"/>
            <a:ext cx="288036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Votación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907791"/>
            <a:ext cx="288036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mayoría; empate a favor del fraude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4251960"/>
            <a:ext cx="105156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263238"/>
                </a:solidFill>
                <a:latin typeface="Arial"/>
              </a:rPr>
              <a:t>Configuración elegida en CV: {"max_depth": 6, "n_estimators": 21}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892040"/>
            <a:ext cx="1051560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64748B"/>
                </a:solidFill>
                <a:latin typeface="Arial"/>
              </a:rPr>
              <a:t>Las semillas de árboles derivan de una semilla general y son distintas entre sí. El código no usa RandomForestClassifier ni BaggingClassifier.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05 · AJUSTE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Selección por sensibilidad y precisión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29260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pliegues estratificados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794760" y="1645920"/>
            <a:ext cx="29260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977640" y="182880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50.000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77640" y="235915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filas de entrenamiento para CV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645920"/>
            <a:ext cx="2926080" cy="155448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0" y="1828800"/>
            <a:ext cx="256032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20 / 30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2359152"/>
            <a:ext cx="256032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variables conservadas por ANOVA</a:t>
            </a:r>
          </a:p>
        </p:txBody>
      </p:sp>
      <p:sp>
        <p:nvSpPr>
          <p:cNvPr id="17" name="Oval 16"/>
          <p:cNvSpPr/>
          <p:nvPr/>
        </p:nvSpPr>
        <p:spPr>
          <a:xfrm>
            <a:off x="822960" y="3767328"/>
            <a:ext cx="100584" cy="100584"/>
          </a:xfrm>
          <a:prstGeom prst="ellipse">
            <a:avLst/>
          </a:prstGeom>
          <a:solidFill>
            <a:srgbClr val="A8B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60704" y="3657600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Primero se maximiza la sensibilidad media de Class = 1.</a:t>
            </a:r>
          </a:p>
        </p:txBody>
      </p:sp>
      <p:sp>
        <p:nvSpPr>
          <p:cNvPr id="19" name="Oval 18"/>
          <p:cNvSpPr/>
          <p:nvPr/>
        </p:nvSpPr>
        <p:spPr>
          <a:xfrm>
            <a:off x="822960" y="4334256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60704" y="4224528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Si empatan, se elige la configuración con mayor precisión media del fraude.</a:t>
            </a:r>
          </a:p>
        </p:txBody>
      </p:sp>
      <p:sp>
        <p:nvSpPr>
          <p:cNvPr id="21" name="Oval 20"/>
          <p:cNvSpPr/>
          <p:nvPr/>
        </p:nvSpPr>
        <p:spPr>
          <a:xfrm>
            <a:off x="822960" y="4901184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60704" y="4791456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Elegida: Random Forest propio con submuestreo 1:10, sensibilidad 87,9 % ± 5,5 % y precisión 45,0 % en CV.</a:t>
            </a:r>
          </a:p>
        </p:txBody>
      </p:sp>
      <p:sp>
        <p:nvSpPr>
          <p:cNvPr id="23" name="Oval 22"/>
          <p:cNvSpPr/>
          <p:nvPr/>
        </p:nvSpPr>
        <p:spPr>
          <a:xfrm>
            <a:off x="822960" y="5468112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60704" y="5358383"/>
            <a:ext cx="10186416" cy="53035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Los hiperparámetros finales se ajustan de nuevo con las 198.608 filas de entrenamiento.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06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La compensación eleva la sensibilidad en CV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07</a:t>
            </a:r>
          </a:p>
        </p:txBody>
      </p:sp>
      <p:pic>
        <p:nvPicPr>
          <p:cNvPr id="8" name="Picture 7" descr="sensibilidad_validac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508760"/>
            <a:ext cx="10607040" cy="42976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914400" y="5870448"/>
            <a:ext cx="100584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Barras: media de cinco pliegues. Líneas: una desviación estándar entre pliegues.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07 · RESULTADOS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Prueba reservada: sensibilidad y falsos negativos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08</a:t>
            </a:r>
          </a:p>
        </p:txBody>
      </p:sp>
      <p:pic>
        <p:nvPicPr>
          <p:cNvPr id="8" name="Picture 7" descr="sensibilidad_fnr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89320"/>
            <a:ext cx="105156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64748B"/>
                </a:solidFill>
                <a:latin typeface="Arial"/>
              </a:rPr>
              <a:t>Media ± desviación estándar entre cinco semillas; el mismo test se usa en todas las repeticiones.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08 · COSTOS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Detectar más fraudes genera más alertas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09</a:t>
            </a:r>
          </a:p>
        </p:txBody>
      </p:sp>
      <p:pic>
        <p:nvPicPr>
          <p:cNvPr id="8" name="Picture 7" descr="precision_especificidad_prueb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417320"/>
            <a:ext cx="10789920" cy="44805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989320"/>
            <a:ext cx="10515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El submuestreo mejora la sensibilidad, pero reduce la precisión: una mayor proporción de alertas es falsa.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09 · PRUEBA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Matriz de confusión de la configuración elegida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10</a:t>
            </a:r>
          </a:p>
        </p:txBody>
      </p:sp>
      <p:pic>
        <p:nvPicPr>
          <p:cNvPr id="8" name="Picture 7" descr="matriz_confusion_seleccion_cv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417320"/>
            <a:ext cx="5029200" cy="420624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0" y="1645920"/>
            <a:ext cx="1920240" cy="1463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82880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115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35915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fraudes detectados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41080" y="1645920"/>
            <a:ext cx="1920240" cy="1463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823959" y="182880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23959" y="235915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fraudes omitidos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429000"/>
            <a:ext cx="1920240" cy="1463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361188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53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14223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falsas alarmas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41080" y="3429000"/>
            <a:ext cx="1920240" cy="14630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23959" y="3611880"/>
            <a:ext cx="1554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84.923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23959" y="4142232"/>
            <a:ext cx="155448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legítimas reconocidas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0" y="5303520"/>
            <a:ext cx="429768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Random Forest propio · submuestreo 1:10 · semilla 42. La selección se hizo con CV; la matriz usa el primer ajuste en test.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10 · ANÁLISIS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Lectura crítica de los resultados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00200"/>
            <a:ext cx="3108960" cy="1691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78308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99,833 %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134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exactitud si todo se predice legítimo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679191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Sensibilidad: 0 %. FNR: 100 %.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600200"/>
            <a:ext cx="3108960" cy="1691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78308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76,2 % → 80,4 %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23134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sensibilidad de Random 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679191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Sin compensación → con submuestreo.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772400" y="1600200"/>
            <a:ext cx="3108960" cy="169164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955279" y="178308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A8B4C0"/>
                </a:solidFill>
                <a:latin typeface="Arial"/>
              </a:rPr>
              <a:t>67,5 %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79" y="231343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precisión de Random Forest compensado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55279" y="2679191"/>
            <a:ext cx="274320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La parte restante de alertas son falsas alarmas.</a:t>
            </a:r>
          </a:p>
        </p:txBody>
      </p:sp>
      <p:sp>
        <p:nvSpPr>
          <p:cNvPr id="20" name="Oval 19"/>
          <p:cNvSpPr/>
          <p:nvPr/>
        </p:nvSpPr>
        <p:spPr>
          <a:xfrm>
            <a:off x="822960" y="4087368"/>
            <a:ext cx="100584" cy="100584"/>
          </a:xfrm>
          <a:prstGeom prst="ellipse">
            <a:avLst/>
          </a:prstGeom>
          <a:solidFill>
            <a:srgbClr val="A8B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60704" y="3977639"/>
            <a:ext cx="1046073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La exactitud sola oculta los fraudes que el modelo deja pasar.</a:t>
            </a:r>
          </a:p>
        </p:txBody>
      </p:sp>
      <p:sp>
        <p:nvSpPr>
          <p:cNvPr id="22" name="Oval 21"/>
          <p:cNvSpPr/>
          <p:nvPr/>
        </p:nvSpPr>
        <p:spPr>
          <a:xfrm>
            <a:off x="822960" y="4709159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60704" y="4599431"/>
            <a:ext cx="1046073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Clasificar todo como fraude daría sensibilidad 100 %, pero marcaría como falsas alarmas las 84.976 transacciones legítimas del test.</a:t>
            </a:r>
          </a:p>
        </p:txBody>
      </p:sp>
      <p:sp>
        <p:nvSpPr>
          <p:cNvPr id="24" name="Oval 23"/>
          <p:cNvSpPr/>
          <p:nvPr/>
        </p:nvSpPr>
        <p:spPr>
          <a:xfrm>
            <a:off x="822960" y="5330952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60704" y="5221224"/>
            <a:ext cx="10460736" cy="58521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Random Forest con submuestreo detecta 2,7 puntos porcentuales menos que el árbol de decisión compensado, pero eleva la precisión de 0,336 a 0,675.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11 ·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Conclusiones y límites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645920"/>
            <a:ext cx="3108960" cy="1645920"/>
          </a:xfrm>
          <a:prstGeom prst="round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1828800"/>
            <a:ext cx="274320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>
                <a:solidFill>
                  <a:srgbClr val="2E6F9E"/>
                </a:solidFill>
                <a:latin typeface="Arial"/>
              </a:rPr>
              <a:t>80,4 %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359152"/>
            <a:ext cx="2743200" cy="310896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63238"/>
                </a:solidFill>
                <a:latin typeface="Arial"/>
              </a:rPr>
              <a:t>sensibilidad en prueba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724912"/>
            <a:ext cx="274320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FNR 19,6 % · precisión 67,5 %</a:t>
            </a:r>
          </a:p>
        </p:txBody>
      </p:sp>
      <p:sp>
        <p:nvSpPr>
          <p:cNvPr id="12" name="Oval 11"/>
          <p:cNvSpPr/>
          <p:nvPr/>
        </p:nvSpPr>
        <p:spPr>
          <a:xfrm>
            <a:off x="4251960" y="1755648"/>
            <a:ext cx="100584" cy="100584"/>
          </a:xfrm>
          <a:prstGeom prst="ellipse">
            <a:avLst/>
          </a:prstGeom>
          <a:solidFill>
            <a:srgbClr val="A8B4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9704" y="1645920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CV eligió Random Forest propio con submuestreo por obtener la mayor sensibilidad media.</a:t>
            </a:r>
          </a:p>
        </p:txBody>
      </p:sp>
      <p:sp>
        <p:nvSpPr>
          <p:cNvPr id="14" name="Oval 13"/>
          <p:cNvSpPr/>
          <p:nvPr/>
        </p:nvSpPr>
        <p:spPr>
          <a:xfrm>
            <a:off x="4251960" y="2505456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89704" y="2395728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El submuestreo aumentó la detección de fraudes y también produjo más falsas alarmas.</a:t>
            </a:r>
          </a:p>
        </p:txBody>
      </p:sp>
      <p:sp>
        <p:nvSpPr>
          <p:cNvPr id="16" name="Oval 15"/>
          <p:cNvSpPr/>
          <p:nvPr/>
        </p:nvSpPr>
        <p:spPr>
          <a:xfrm>
            <a:off x="4251960" y="3255264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89704" y="3145536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El test contiene solo 142 fraudes; las métricas de sensibilidad cambian con pocos casos.</a:t>
            </a:r>
          </a:p>
        </p:txBody>
      </p:sp>
      <p:sp>
        <p:nvSpPr>
          <p:cNvPr id="18" name="Oval 17"/>
          <p:cNvSpPr/>
          <p:nvPr/>
        </p:nvSpPr>
        <p:spPr>
          <a:xfrm>
            <a:off x="4251960" y="4005072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89704" y="3895344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El dataset no trae identificador de transacción; algunas filas idénticas podrían ser operaciones reales repetidas.</a:t>
            </a:r>
          </a:p>
        </p:txBody>
      </p:sp>
      <p:sp>
        <p:nvSpPr>
          <p:cNvPr id="20" name="Oval 19"/>
          <p:cNvSpPr/>
          <p:nvPr/>
        </p:nvSpPr>
        <p:spPr>
          <a:xfrm>
            <a:off x="4251960" y="4754880"/>
            <a:ext cx="100584" cy="100584"/>
          </a:xfrm>
          <a:prstGeom prst="ellipse">
            <a:avLst/>
          </a:prstGeom>
          <a:solidFill>
            <a:srgbClr val="2E6F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9704" y="4645152"/>
            <a:ext cx="6894576" cy="713231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263238"/>
                </a:solidFill>
                <a:latin typeface="Arial"/>
              </a:rPr>
              <a:t>SVM lineal y ANOVA son decisiones acotadas para esta comparación; se podrían ampliar los espacios de búsqueda.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715000"/>
            <a:ext cx="1051560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64748B"/>
                </a:solidFill>
                <a:latin typeface="Arial"/>
              </a:rPr>
              <a:t>Siguiente paso: ambos integrantes deben poder explicar la implementación, las métricas y el costo operativo de las falsas alarmas.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RESPALDO · VALIDACIÓN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Configuraciones y resultados de validación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4300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5 pliegues compartidos · sensibilidad y precisión de fraude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13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645920"/>
          <a:ext cx="109728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554480"/>
                <a:gridCol w="3200400"/>
                <a:gridCol w="2468880"/>
                <a:gridCol w="1920240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63238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63238"/>
                          </a:solidFill>
                          <a:latin typeface="Arial"/>
                        </a:rPr>
                        <a:t>Condición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63238"/>
                          </a:solidFill>
                          <a:latin typeface="Arial"/>
                        </a:rPr>
                        <a:t>Mejores parámetros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63238"/>
                          </a:solidFill>
                          <a:latin typeface="Arial"/>
                        </a:rPr>
                        <a:t>Sensibilidad ± DE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263238"/>
                          </a:solidFill>
                          <a:latin typeface="Arial"/>
                        </a:rPr>
                        <a:t>Precisión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n_neighbors=3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79,3 % ± 8,6 %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91,2 %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n_neighbors=3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86,6 % ± 6,1 %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37,5 %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max_depth=5, min_samples_leaf=5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69,6 % ± 18,4 %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79,8 %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max_depth=5, min_samples_leaf=5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85,4 % ± 6,4 %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18,6 %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C=10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58,7 % ± 15,6 %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88,5 %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C=10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86,5 % ± 9,3 %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21,2 %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sin compensación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max_depth=12, n_estimators=21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74,3 % ± 14,7 %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91,6 %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✓ Random Forest propio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max_depth=6, n_estimators=21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87,9 % ± 5,5 %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64748B"/>
                          </a:solidFill>
                          <a:latin typeface="Arial"/>
                        </a:rPr>
                        <a:t>45,0 %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833872"/>
            <a:ext cx="10972800" cy="4297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Rangos evaluados: k-NN n_neighbors=3, 5, 7; Árbol de decisión max_depth=5, 10, libre; min_samples_leaf=1, 5; SVM lineal C=0,1, 1, 10; Random Forest propio n_estimators=11, 21; max_depth=6, 12. Random Forest usa max_features=√p.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548640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2E6F9E"/>
                </a:solidFill>
                <a:latin typeface="Arial"/>
              </a:rPr>
              <a:t>RESPALDO · MÉTRICAS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21792"/>
            <a:ext cx="11064240" cy="4572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263238"/>
                </a:solidFill>
                <a:latin typeface="Arial"/>
              </a:rPr>
              <a:t>Resultados completos de prueba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143000"/>
            <a:ext cx="1097280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>
                <a:solidFill>
                  <a:srgbClr val="64748B"/>
                </a:solidFill>
                <a:latin typeface="Arial"/>
              </a:rPr>
              <a:t>Media ± desviación estándar entre semillas; resultados de CV y prueba se reportan por separado.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078992"/>
            <a:ext cx="11155680" cy="16459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Arial"/>
              </a:rPr>
              <a:t>INFO1185 · Detección de fraude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73952"/>
            <a:ext cx="548640" cy="23774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14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411480" y="1645920"/>
          <a:ext cx="10927080" cy="3886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234440"/>
                <a:gridCol w="1417320"/>
                <a:gridCol w="1463040"/>
                <a:gridCol w="1325880"/>
                <a:gridCol w="1188720"/>
                <a:gridCol w="1325880"/>
                <a:gridCol w="1143000"/>
              </a:tblGrid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Modelo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Condición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Sensibilidad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Especificidad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Precisión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F1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Exactitud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1">
                          <a:solidFill>
                            <a:srgbClr val="263238"/>
                          </a:solidFill>
                          <a:latin typeface="Arial"/>
                        </a:rPr>
                        <a:t>FNR</a:t>
                      </a:r>
                    </a:p>
                  </a:txBody>
                  <a:tcPr marL="54864" marR="45720" marT="22860" marB="22860">
                    <a:solidFill>
                      <a:srgbClr val="DCE8F1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74,6 %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99,996 % ± 0,000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97,2 %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84,5 %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99,95 % ± 0,00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25,4 %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k-NN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83,4 % ± 0,6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99,681 % ± 0,056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30,7 % ± 3,7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44,8 % ± 3,9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99,65 % ± 0,06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16,6 % ± 0,6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63,5 % ± 0,3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99,990 % ± 0,002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91,1 % ± 1,2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74,9 % ± 0,4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99,93 % ± 0,00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36,5 % ± 0,3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Árbol de decisión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83,1 % ± 2,7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99,692 % ± 0,138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33,6 % ± 10,1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47,0 % ± 9,6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99,66 % ± 0,13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16,9 % ± 2,7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52,1 %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99,987 % ± 0,000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87,1 %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65,2 %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99,91 % ± 0,00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47,9 %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SVM lineal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81,0 %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99,885 % ± 0,036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54,8 % ± 7,4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65,2 % ± 5,4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99,85 % ± 0,04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19,0 % ± 0,0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sin comp.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76,2 % ± 1,2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99,993 % ± 0,002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94,6 % ± 1,0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84,4 % ± 0,6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99,95 % ± 0,00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23,8 % ± 1,2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Random Forest propio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submuestreo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80,4 % ± 0,3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99,935 % ± 0,014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67,5 % ± 4,6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73,3 % ± 2,8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99,90 % ± 0,01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50" b="0">
                          <a:solidFill>
                            <a:srgbClr val="64748B"/>
                          </a:solidFill>
                          <a:latin typeface="Arial"/>
                        </a:rPr>
                        <a:t>19,6 % ± 0,3 pp</a:t>
                      </a:r>
                    </a:p>
                  </a:txBody>
                  <a:tcPr marL="54864" marR="45720" marT="22860" marB="2286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8640" y="5715000"/>
            <a:ext cx="10515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64748B"/>
                </a:solidFill>
                <a:latin typeface="Arial"/>
              </a:rPr>
              <a:t>Las desviaciones reflejan cinco semillas sobre el mismo test fijo; no son cinco muestras independientes.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Detección de fraude con aprendizaje supervisado</dc:title>
  <dc:subject>INFO1185 · Problema 2</dc:subject>
  <dc:creator>Equipo INFO1185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