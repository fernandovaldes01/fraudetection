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AB8A7"/>
                </a:solidFill>
                <a:latin typeface="Arial"/>
              </a:rPr>
              <a:t>INFO1185 ·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77240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EBF0F6"/>
                </a:solidFill>
                <a:latin typeface="Arial"/>
              </a:rPr>
              <a:t>Detección
de fraude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ABB9C7"/>
                </a:solidFill>
                <a:latin typeface="Arial"/>
              </a:rPr>
              <a:t>Comparación de clasificadores supervisados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7772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8874B"/>
                </a:solidFill>
                <a:latin typeface="Arial"/>
              </a:rPr>
              <a:t>Prioridad: detectar fraudes y reducir falsos negativos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6400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BB9C7"/>
                </a:solidFill>
                <a:latin typeface="Arial"/>
              </a:rPr>
              <a:t>Integrantes: Fernando Valdés Gomez · Juan Muñoz Veloso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371600"/>
            <a:ext cx="2560320" cy="155448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19" y="1554480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19" y="208483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clasificadores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200400"/>
            <a:ext cx="2560320" cy="155448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3383280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391363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condiciones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212080"/>
            <a:ext cx="3474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BB9C7"/>
                </a:solidFill>
                <a:latin typeface="Arial"/>
              </a:rPr>
              <a:t>k-NN · árbol · SVM · Random Forest propio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01 ·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El fraude es poco frecuente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02</a:t>
            </a:r>
          </a:p>
        </p:txBody>
      </p:sp>
      <p:pic>
        <p:nvPicPr>
          <p:cNvPr id="8" name="Picture 7" descr="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40080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645920"/>
            <a:ext cx="182880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828800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A89B2"/>
                </a:solidFill>
                <a:latin typeface="Arial"/>
              </a:rPr>
              <a:t>284.807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5915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transacciones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645920"/>
            <a:ext cx="182880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828800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492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35915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fraudes · 0,173 %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566160"/>
            <a:ext cx="182880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749039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1.081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27939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duplicados exactos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3566160"/>
            <a:ext cx="182880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3749039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27939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valores faltantes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486400"/>
            <a:ext cx="3749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9C7"/>
                </a:solidFill>
                <a:latin typeface="Arial"/>
              </a:rPr>
              <a:t>Se quitaron duplicados antes de separar los datos. Quedaron 283.726 filas y 473 fraudes.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02 ·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Partición fija y prueba reservada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92608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A89B2"/>
                </a:solidFill>
                <a:latin typeface="Arial"/>
              </a:rPr>
              <a:t>198.608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1343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entrenamiento completo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00200"/>
            <a:ext cx="292608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78308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31343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submuestra estratificada para búsqueda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926080" cy="16002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78308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85.118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1343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prueba reservada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67328"/>
            <a:ext cx="100584" cy="100584"/>
          </a:xfrm>
          <a:prstGeom prst="ellipse">
            <a:avLst/>
          </a:prstGeom>
          <a:solidFill>
            <a:srgbClr val="E8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657600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Partición estratificada 70/30, semilla 42; los ocho experimentos comparten la misma partición.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97680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187952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Cinco pliegues estratificados y compartidos para comparar los modelos.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28032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718304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Tras la búsqueda, cada ganador se reajusta con todo el entrenamiento.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358384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248656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El test conserva la prevalencia natural y no participa en ajustes.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03 ·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Ocho experimentos, una misma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5486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BF0F6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BF0F6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EBF0F6"/>
                          </a:solidFill>
                          <a:latin typeface="Arial"/>
                        </a:rPr>
                        <a:t>Con submuestreo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ABB9C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160020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AB8A7"/>
                </a:solidFill>
                <a:latin typeface="Arial"/>
              </a:rPr>
              <a:t>Dentro de cada pliegue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2212848"/>
            <a:ext cx="100584" cy="100584"/>
          </a:xfrm>
          <a:prstGeom prst="ellipse">
            <a:avLst/>
          </a:prstGeom>
          <a:solidFill>
            <a:srgbClr val="E8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3" y="2103120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Escalado para k-NN y SVM.</a:t>
            </a:r>
          </a:p>
        </p:txBody>
      </p:sp>
      <p:sp>
        <p:nvSpPr>
          <p:cNvPr id="12" name="Oval 11"/>
          <p:cNvSpPr/>
          <p:nvPr/>
        </p:nvSpPr>
        <p:spPr>
          <a:xfrm>
            <a:off x="6720840" y="2871215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8583" y="2761487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ANOVA F-test: se seleccionan las 20 mejores variables.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3529584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3" y="3419856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RandomUnderSampler 1:10 solo en entrenamiento.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4187952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8583" y="4078224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Validación y prueba mantienen su distribución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04 · ENSAMBLE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Random Forest implementado por la dupla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246120" cy="18288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1"/>
            <a:ext cx="2880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n extracciones con reemplazo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23160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ABB9C7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3246120" cy="18288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4203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Árbol independiente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07791"/>
            <a:ext cx="2880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max_features = √p por división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23160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ABB9C7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828800"/>
            <a:ext cx="3246120" cy="182880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1168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4203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Votación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907791"/>
            <a:ext cx="2880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mayoría; empate a favor del fraude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EBF0F6"/>
                </a:solidFill>
                <a:latin typeface="Arial"/>
              </a:rPr>
              <a:t>Configuración elegida en CV: {"max_depth": 6, "n_estimators": 21}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515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BB9C7"/>
                </a:solidFill>
                <a:latin typeface="Arial"/>
              </a:rPr>
              <a:t>Las semillas de árboles derivan de una semilla general y son distintas entre sí. El código no usa RandomForestClassifier ni BaggingClassifier.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05 · 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Selección por sensibilidad y precisión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926080" cy="155448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pliegues estratificados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45920"/>
            <a:ext cx="2926080" cy="155448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82880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5A89B2"/>
                </a:solidFill>
                <a:latin typeface="Arial"/>
              </a:rPr>
              <a:t>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35915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filas de entrenamiento para 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645920"/>
            <a:ext cx="2926080" cy="155448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20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5915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variables conservadas por ANOVA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67328"/>
            <a:ext cx="100584" cy="100584"/>
          </a:xfrm>
          <a:prstGeom prst="ellipse">
            <a:avLst/>
          </a:prstGeom>
          <a:solidFill>
            <a:srgbClr val="E8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657600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Primero se maximiza la sensibilidad media de Class = 1.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34256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224528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Si empatan, se elige la configuración con mayor precisión media del fraude.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901184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791456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Elegida: Random Forest propio con submuestreo 1:10, sensibilidad 87.9% ± 5.5% y precisión 45.0% en CV.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468112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358383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Los hiperparámetros finales se ajustan de nuevo con las 198.608 filas de entrenamiento.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06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La compensación eleva la sensibilidad en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07</a:t>
            </a:r>
          </a:p>
        </p:txBody>
      </p:sp>
      <p:pic>
        <p:nvPicPr>
          <p:cNvPr id="8" name="Picture 7" descr="sensibilidad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106070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704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BB9C7"/>
                </a:solidFill>
                <a:latin typeface="Arial"/>
              </a:rPr>
              <a:t>Barras: media de cinco pliegues. Líneas: una desviación estándar entre pliegues.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07 ·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Prueba reservada: sensibilidad y falsos negativos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08</a:t>
            </a:r>
          </a:p>
        </p:txBody>
      </p:sp>
      <p:pic>
        <p:nvPicPr>
          <p:cNvPr id="8" name="Picture 7" descr="sensibilidad_fnr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89320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BB9C7"/>
                </a:solidFill>
                <a:latin typeface="Arial"/>
              </a:rPr>
              <a:t>Media ± desviación estándar entre cinco semillas; el mismo test se usa en todas las repeticiones.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08 ·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Detectar más fraudes genera más alertas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09</a:t>
            </a:r>
          </a:p>
        </p:txBody>
      </p:sp>
      <p:pic>
        <p:nvPicPr>
          <p:cNvPr id="8" name="Picture 7" descr="precision_especificidad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9C7"/>
                </a:solidFill>
                <a:latin typeface="Arial"/>
              </a:rPr>
              <a:t>El submuestreo mejora la sensibilidad, pero reduce la precisión: una mayor proporción de alertas es falsa.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09 ·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Matriz de confusión de la configuración elegida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10</a:t>
            </a:r>
          </a:p>
        </p:txBody>
      </p:sp>
      <p:pic>
        <p:nvPicPr>
          <p:cNvPr id="8" name="Picture 7" descr="matriz_confusion_seleccion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029200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45920"/>
            <a:ext cx="1920240" cy="14630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5915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fraudes detectados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645920"/>
            <a:ext cx="1920240" cy="14630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59" y="182880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235915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fraudes omitidos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29000"/>
            <a:ext cx="1920240" cy="14630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4223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falsas alarmas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3429000"/>
            <a:ext cx="1920240" cy="14630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361188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84,923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414223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legítimas reconocidas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2976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9C7"/>
                </a:solidFill>
                <a:latin typeface="Arial"/>
              </a:rPr>
              <a:t>Random Forest propio · submuestreo 1:10 · semilla 42. La selección se hizo con CV; la matriz usa el primer ajuste en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10 ·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Lectura crítica de los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108960" cy="16916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99.833%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exactitud si todo se predice legítimo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Sensibilidad: 0 %. FNR: 100 %.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108960" cy="16916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76.2% → 80.4%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134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sensibilidad del bosque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1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Sin compensación → con submuestreo.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600200"/>
            <a:ext cx="3108960" cy="169164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78308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8874B"/>
                </a:solidFill>
                <a:latin typeface="Arial"/>
              </a:rP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3134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precisión del bosque compensado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79191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La parte restante de alertas son falsas alarmas.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087368"/>
            <a:ext cx="100584" cy="100584"/>
          </a:xfrm>
          <a:prstGeom prst="ellipse">
            <a:avLst/>
          </a:prstGeom>
          <a:solidFill>
            <a:srgbClr val="E8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77639"/>
            <a:ext cx="1046073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La exactitud sola oculta los fraudes que el modelo deja pasar.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709159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599431"/>
            <a:ext cx="1046073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Clasificar todo como fraude daría sensibilidad 100 %, pero marcaría como falsas alarmas las 84.976 transacciones legítimas del test.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330952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221224"/>
            <a:ext cx="1046073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El bosque con submuestreo detecta algo menos que el árbol compensado, pero eleva la precisión de 0,336 a 0,675.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11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Conclusiones y límites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108960" cy="1645920"/>
          </a:xfrm>
          <a:prstGeom prst="round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4AB8A7"/>
                </a:solidFill>
                <a:latin typeface="Arial"/>
              </a:rPr>
              <a:t>80.4%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BF0F6"/>
                </a:solidFill>
                <a:latin typeface="Arial"/>
              </a:rPr>
              <a:t>sensibilidad en 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FNR 19.6% · precisión 67.5%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1755648"/>
            <a:ext cx="100584" cy="100584"/>
          </a:xfrm>
          <a:prstGeom prst="ellipse">
            <a:avLst/>
          </a:prstGeom>
          <a:solidFill>
            <a:srgbClr val="E8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645920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CV eligió Random Forest propio con submuestreo por obtener la mayor sensibilidad media.</a:t>
            </a:r>
          </a:p>
        </p:txBody>
      </p:sp>
      <p:sp>
        <p:nvSpPr>
          <p:cNvPr id="14" name="Oval 13"/>
          <p:cNvSpPr/>
          <p:nvPr/>
        </p:nvSpPr>
        <p:spPr>
          <a:xfrm>
            <a:off x="4251960" y="2505456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395728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El submuestreo aumentó la detección de fraudes y también produjo más falsas alarmas.</a:t>
            </a:r>
          </a:p>
        </p:txBody>
      </p:sp>
      <p:sp>
        <p:nvSpPr>
          <p:cNvPr id="16" name="Oval 15"/>
          <p:cNvSpPr/>
          <p:nvPr/>
        </p:nvSpPr>
        <p:spPr>
          <a:xfrm>
            <a:off x="4251960" y="3255264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3145536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El test contiene solo 142 fraudes; las métricas de sensibilidad cambian con pocos casos.</a:t>
            </a:r>
          </a:p>
        </p:txBody>
      </p:sp>
      <p:sp>
        <p:nvSpPr>
          <p:cNvPr id="18" name="Oval 17"/>
          <p:cNvSpPr/>
          <p:nvPr/>
        </p:nvSpPr>
        <p:spPr>
          <a:xfrm>
            <a:off x="4251960" y="4005072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895344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El dataset no trae identificador de transacción; algunas filas idénticas podrían ser operaciones reales repetidas.</a:t>
            </a:r>
          </a:p>
        </p:txBody>
      </p:sp>
      <p:sp>
        <p:nvSpPr>
          <p:cNvPr id="20" name="Oval 19"/>
          <p:cNvSpPr/>
          <p:nvPr/>
        </p:nvSpPr>
        <p:spPr>
          <a:xfrm>
            <a:off x="4251960" y="4754880"/>
            <a:ext cx="100584" cy="100584"/>
          </a:xfrm>
          <a:prstGeom prst="ellipse">
            <a:avLst/>
          </a:prstGeom>
          <a:solidFill>
            <a:srgbClr val="4AB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4645152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EBF0F6"/>
                </a:solidFill>
                <a:latin typeface="Arial"/>
              </a:rPr>
              <a:t>SVM lineal y ANOVA son decisiones acotadas para esta comparación; se podrían ampliar los espacios de búsqueda.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BB9C7"/>
                </a:solidFill>
                <a:latin typeface="Arial"/>
              </a:rPr>
              <a:t>Siguiente paso: ambos integrantes deben poder explicar la implementación, las métricas y el costo operativo de las falsas alarmas.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RESPALDO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Configuraciones y resultados de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4300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9C7"/>
                </a:solidFill>
                <a:latin typeface="Arial"/>
              </a:rPr>
              <a:t>Cinco pliegues compartidos · sensibilidad y precisión de fraude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3200400"/>
                <a:gridCol w="24688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BF0F6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BF0F6"/>
                          </a:solidFill>
                          <a:latin typeface="Arial"/>
                        </a:rPr>
                        <a:t>Condición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BF0F6"/>
                          </a:solidFill>
                          <a:latin typeface="Arial"/>
                        </a:rPr>
                        <a:t>Mejores parámetros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BF0F6"/>
                          </a:solidFill>
                          <a:latin typeface="Arial"/>
                        </a:rPr>
                        <a:t>Sensibilidad ± DE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BF0F6"/>
                          </a:solidFill>
                          <a:latin typeface="Arial"/>
                        </a:rPr>
                        <a:t>Precisión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n_neighbors=3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79.3% ± 8.6%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91.2%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n_neighbors=3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86.6% ± 6.1%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37.5%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max_depth=5, min_samples_leaf=5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69.6% ± 18.4%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79.8%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max_depth=5, min_samples_leaf=5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85.4% ± 6.4%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C=10.0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58.7% ± 15.6%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88.5%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C=10.0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86.5% ± 9.3%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21.2%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max_depth=12, n_estimators=21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74.3% ± 14.7%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91.6%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✓ Random Forest propio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max_depth=6, n_estimators=21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87.9% ± 5.5%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BB9C7"/>
                          </a:solidFill>
                          <a:latin typeface="Arial"/>
                        </a:rPr>
                        <a:t>45.0%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33872"/>
            <a:ext cx="1097280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Rangos evaluados: k-NN n_neighbors={3, 5, 7}; árbol max_depth={5, 10, None} y min_samples_leaf={1, 5}; SVM C={0.1, 1, 10}; bosque n_estimators={11, 21} y max_depth={6, 12}. El bosque usa max_features=√p.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AB8A7"/>
                </a:solidFill>
                <a:latin typeface="Arial"/>
              </a:rPr>
              <a:t>RESPALDO ·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BF0F6"/>
                </a:solidFill>
                <a:latin typeface="Arial"/>
              </a:rPr>
              <a:t>Resultados completos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4300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9C7"/>
                </a:solidFill>
                <a:latin typeface="Arial"/>
              </a:rPr>
              <a:t>Media ± desviación estándar entre semillas; resultados de CV y prueba se reportan por separado.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9C7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45920"/>
          <a:ext cx="109270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34440"/>
                <a:gridCol w="1417320"/>
                <a:gridCol w="1463040"/>
                <a:gridCol w="1325880"/>
                <a:gridCol w="1188720"/>
                <a:gridCol w="1325880"/>
                <a:gridCol w="114300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Condición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Sensibilidad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Especificidad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Precisión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Exactitud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EBF0F6"/>
                          </a:solidFill>
                          <a:latin typeface="Arial"/>
                        </a:rPr>
                        <a:t>FNR</a:t>
                      </a:r>
                    </a:p>
                  </a:txBody>
                  <a:tcPr marL="54864" marR="45720" marT="22860" marB="22860">
                    <a:solidFill>
                      <a:srgbClr val="2A3E52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74.6%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99.996% ± 0.000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97.2%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84.5%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99.95% ± 0.00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25.4%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83.4% ± 0.6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99.681% ± 0.056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30.7% ± 3.7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44.8% ± 3.9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99.65% ± 0.06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16.6% ± 0.6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63.5% ± 0.3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99.990% ± 0.002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91.1% ± 1.2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74.9% ± 0.4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99.93% ± 0.00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36.5% ± 0.3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83.1% ± 2.7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99.692% ± 0.138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33.6% ± 10.1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47.0% ± 9.6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99.66% ± 0.13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16.9% ± 2.7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52.1%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99.987% ± 0.000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87.1%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65.2%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99.91% ± 0.00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47.9%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81.0%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99.885% ± 0.036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54.8% ± 7.4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65.2% ± 5.4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99.85% ± 0.04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19.0% ± 0.0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76.2% ± 1.2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99.993% ± 0.002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94.6% ± 1.0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84.4% ± 0.6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99.95% ± 0.00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23.8% ± 1.2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80.4% ± 0.3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99.935% ± 0.014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67.5% ± 4.6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73.3% ± 2.8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99.90% ± 0.01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ABB9C7"/>
                          </a:solidFill>
                          <a:latin typeface="Arial"/>
                        </a:rPr>
                        <a:t>19.6% ± 0.3 pp</a:t>
                      </a:r>
                    </a:p>
                  </a:txBody>
                  <a:tcPr marL="54864" marR="45720" marT="22860" marB="22860">
                    <a:solidFill>
                      <a:srgbClr val="1C2A3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1500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BB9C7"/>
                </a:solidFill>
                <a:latin typeface="Arial"/>
              </a:rPr>
              <a:t>Las desviaciones reflejan cinco semillas sobre el mismo test fijo; no son cinco muestras independientes.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fraude con aprendizaje supervisado</dc:title>
  <dc:subject>INFO1185 · Problema 2</dc:subject>
  <dc:creator>Equipo INFO1185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