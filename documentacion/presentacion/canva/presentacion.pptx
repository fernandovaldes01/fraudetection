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INFO1185 ·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71717"/>
                </a:solidFill>
                <a:latin typeface="Arial"/>
              </a:rPr>
              <a:t>Detectar fraude
con aprendizaje supervisado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8211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4748B"/>
                </a:solidFill>
                <a:latin typeface="Arial"/>
              </a:rPr>
              <a:t>Comparación de ocho condiciones con sensibilidad como criterio principal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4114800"/>
            <a:ext cx="52578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4370832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717"/>
                </a:solidFill>
                <a:latin typeface="Arial"/>
              </a:rPr>
              <a:t>Fernando Alonso Valdés Gómez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73168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717"/>
                </a:solidFill>
                <a:latin typeface="Arial"/>
              </a:rPr>
              <a:t>Juan Francisco Muñoz Veloso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508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99,827%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084831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exactitud al predecir todo legítimo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346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B91C1C"/>
                </a:solidFill>
                <a:latin typeface="Arial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41071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sensibilidad para fraude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6510528"/>
            <a:ext cx="1072591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6556248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Proyecto de INFO1185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La exactitud puede ocultar el fraude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La clase positiva es la transacción fraudulenta.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563EB"/>
                </a:solidFill>
                <a:latin typeface="Arial"/>
              </a:rPr>
              <a:t>99,827%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79"/>
            <a:ext cx="29260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Exactitud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284.315 de 284.807 filas son legítimas.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563EB"/>
                </a:solidFill>
                <a:latin typeface="Arial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68879"/>
            <a:ext cx="29260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Sensibilidad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788920"/>
            <a:ext cx="29260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Predecir siempre legítimo omite los 492 fraudes.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1920240"/>
            <a:ext cx="2926080" cy="19659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2139696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Objetivo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624328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717"/>
                </a:solidFill>
                <a:latin typeface="Arial"/>
              </a:rPr>
              <a:t>Encontrar más fraude y vigilar falsas alarmas.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717"/>
                </a:solidFill>
                <a:latin typeface="Arial"/>
              </a:rPr>
              <a:t>La evaluación prioriza sensibilidad. La precisión muestra cuántas alertas corresponden a fraude.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Una clase rara y duplicados exactos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Credit Card Fraud Detection · CSV inspeccionado antes del modelado.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468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284.807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4688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filas originales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28800"/>
            <a:ext cx="2468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492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4688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fraudes originales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43200"/>
            <a:ext cx="24688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0,173% de las filas.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28800"/>
            <a:ext cx="2468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1.081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4688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duplicados exactos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828800"/>
            <a:ext cx="24688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283.726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423160"/>
            <a:ext cx="24688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filas tras limpieza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40480"/>
            <a:ext cx="1042416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40965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717"/>
                </a:solidFill>
                <a:latin typeface="Arial"/>
              </a:rPr>
              <a:t>30 predictores: Time, Amount y V1–V28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53712"/>
            <a:ext cx="48463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Class excluida · 0 faltantes · 473 fraudes tras limpiar. Se quitan duplicados antes de separar train y test.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096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717"/>
                </a:solidFill>
                <a:latin typeface="Arial"/>
              </a:rPr>
              <a:t>No aplicamos nuevo PCA.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553712"/>
            <a:ext cx="48463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V1–V28 ya son componentes del dataset.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DISEÑO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Particiones fijas y prueba reservada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La selección se hace en train. El test se usa al final.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04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874519"/>
            <a:ext cx="4892040" cy="2103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1031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TRAIN · 70% estratificado · semilla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51760"/>
            <a:ext cx="42976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198.608 filas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1012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Submuestra: 50.000 · 83 fraudes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74519"/>
            <a:ext cx="4892040" cy="210312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1031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8D8D1"/>
                </a:solidFill>
                <a:latin typeface="Arial"/>
              </a:rPr>
              <a:t>TEST · 30% estratificado · reservado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51760"/>
            <a:ext cx="42976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85.118 filas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1012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5DEDA"/>
                </a:solidFill>
                <a:latin typeface="Arial"/>
              </a:rPr>
              <a:t>142 fraudes · 84.976 legítimas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177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717"/>
                </a:solidFill>
                <a:latin typeface="Arial"/>
              </a:rPr>
              <a:t>Validación cruzada estratificada de 5 pliegues. Los ocho experimentos comparten los mismos pliegues.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94960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Búsqueda con 50.000 filas; reajuste final sobre las 198.608 filas de entrenamiento, con el submuestreo correspondiente a cada condición.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Ocho condiciones, una comparación controlada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Dos condiciones: sin compensación y submuestreo de 1 fraude por cada 10 legítimas.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9875520" cy="612648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55648"/>
            <a:ext cx="240487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Clasificador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1755648"/>
            <a:ext cx="32278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Condiciones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1" y="1755648"/>
            <a:ext cx="39136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Transformación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350008"/>
            <a:ext cx="987552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368296"/>
            <a:ext cx="240487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k-NN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68296"/>
            <a:ext cx="32278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Sin compensación · submuestreo 1:10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1" y="2368296"/>
            <a:ext cx="39136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StandardScaler · ANOVA F top 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962656"/>
            <a:ext cx="9875520" cy="61264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980944"/>
            <a:ext cx="240487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Árbol de decisión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9272" y="2980944"/>
            <a:ext cx="32278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Sin compensación · submuestreo 1:10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1" y="2980944"/>
            <a:ext cx="39136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ANOVA F top 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75304"/>
            <a:ext cx="987552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593592"/>
            <a:ext cx="240487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SVM lineal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9272" y="3593592"/>
            <a:ext cx="32278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Sin compensación · submuestreo 1:10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1" y="3593592"/>
            <a:ext cx="39136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StandardScaler · ANOVA F top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87952"/>
            <a:ext cx="9875520" cy="61264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206240"/>
            <a:ext cx="240487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Random Forest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9272" y="4206240"/>
            <a:ext cx="32278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Sin compensación · submuestreo 1:10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1" y="4206240"/>
            <a:ext cx="391363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ANOVA F top 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983480"/>
            <a:ext cx="50749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Cada transformación y remuestreo se ajusta solo con el train de cada pliegue: sin fuga de información.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983480"/>
            <a:ext cx="5120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Seleccionamos las 20 variables con mayor puntuación ANOVA F, un criterio marginal. El submuestreo conserva fraudes, pero descarta legítimas. Escalar importa para distancias y regularización.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Random Forest propio: árboles diversos por 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Número de árboles, profundidad, max_features y semilla configurables; el ganador usa 21 árboles y profundidad 6.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505456"/>
            <a:ext cx="301752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697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717"/>
                </a:solidFill>
                <a:latin typeface="Arial"/>
              </a:rPr>
              <a:t>Bootstrap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Muestra con reemplazo, del tamaño del train de cada condición; ya submuestreado cuando corresponde.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659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02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6280" y="2505456"/>
            <a:ext cx="301752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26280" y="2697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717"/>
                </a:solidFill>
                <a:latin typeface="Arial"/>
              </a:rPr>
              <a:t>Árbol de decisión diverso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24612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Semillas distintas derivadas de la semilla general; max_features='sqrt' en cada división.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9659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0" y="2505456"/>
            <a:ext cx="301752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0" y="2697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717"/>
                </a:solidFill>
                <a:latin typeface="Arial"/>
              </a:rPr>
              <a:t>Legítima o fraude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24612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predict suma los votos de los árboles; el empate favorece fraude. fit y predict están separados.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834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717"/>
                </a:solidFill>
                <a:latin typeface="Arial"/>
              </a:rPr>
              <a:t>Bagging reduce la variabilidad; max_features por división reduce la correlación entre árboles.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SELECCIÓN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La búsqueda prioriza sensibilidad y desempata por precisión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Grillas acotadas por costo; C se muestra con coma decimal.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07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783080"/>
            <a:ext cx="9326880" cy="585216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801368"/>
            <a:ext cx="245059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801368"/>
            <a:ext cx="66568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Valores explorados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368296"/>
            <a:ext cx="932688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386584"/>
            <a:ext cx="245059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k-NN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386584"/>
            <a:ext cx="66568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n_neighbors: 3/5/7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53512"/>
            <a:ext cx="9326880" cy="585216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971800"/>
            <a:ext cx="245059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Árbol de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971800"/>
            <a:ext cx="66568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max_depth: 5/10/libre; min_samples_leaf: 1/5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538728"/>
            <a:ext cx="932688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557016"/>
            <a:ext cx="245059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SVM lineal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3557016"/>
            <a:ext cx="66568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C: 0,1/1/10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123944"/>
            <a:ext cx="9326880" cy="585216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4142231"/>
            <a:ext cx="245059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Random Forest propio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4142231"/>
            <a:ext cx="66568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1717"/>
                </a:solidFill>
                <a:latin typeface="Arial"/>
              </a:rPr>
              <a:t>n_estimators: 11/21; max_depth: 6/12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9875520" cy="8229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0749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Ganador CV: Random Forest propio con submuestreo 1:10 · max_depth=6, n_estimators=21 · sensibilidad 87,9% ± 5,5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33872"/>
            <a:ext cx="98755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Vecinos: suavidad; profundidad y hojas: complejidad; C: regularización; árboles: diversidad y costo. Pesos por distancia fijos en k-NN.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RESULTADOS · VALIDACIÓN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La sensibilidad más alta aparece con Random Forest compensado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Media ± desviación estándar entre los 5 pliegues.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64792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k-NN · sin comp.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874691"/>
            <a:ext cx="5912570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65792" y="1746504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79,3% ± 8,6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73426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k-NN · 1:10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2383326"/>
            <a:ext cx="6455058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65792" y="2255138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86,6% ± 6,1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782062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Árbol de decisión · sin comp.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0280" y="2891961"/>
            <a:ext cx="5189253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65792" y="2763774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69,6% ± 18,4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0697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Árbol de decisión · 1:10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3400596"/>
            <a:ext cx="6367384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3272409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85,4% ± 6,4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9332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SVM lineal · sin comp.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3909231"/>
            <a:ext cx="4372781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3781044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58,7% ± 15,6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307967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SVM lineal · 1:10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0280" y="4417866"/>
            <a:ext cx="6449579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65792" y="4289679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86,5% ± 9,3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16602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Random Forest propio · sin comp.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40280" y="4926501"/>
            <a:ext cx="5539952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798314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74,3% ± 14,7 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325237"/>
            <a:ext cx="1325880" cy="472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Random Forest propio · 1:10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40280" y="5435136"/>
            <a:ext cx="6548213" cy="21362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5792" y="5306949"/>
            <a:ext cx="1508760" cy="4903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87,9% ± 5,5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5824727"/>
            <a:ext cx="74523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Sensibilidad CV · escala 0–100%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897880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Mayor media observada; no demuestra superioridad estadística. La precisión desempata.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RESULTADOS · PRUEBA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La sensibilidad final se estima con cinco reajustes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Mismo conjunto de prueba en cada repetición; se muestran sensibilidad y FNR.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09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68249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rial"/>
              </a:rPr>
              <a:t>Sensibilidad · escala 0–100%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8249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Arial"/>
              </a:rPr>
              <a:t>FNR · escala 0–50%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99339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k-NN · sin comp.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2075688"/>
            <a:ext cx="2286643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1888" y="19933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74,6 ± 0,0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075688"/>
            <a:ext cx="1112734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993392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25,4 ± 0,0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459736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k-NN · 1:10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2542032"/>
            <a:ext cx="2554138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61888" y="2459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83,4 ± 0,6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2542032"/>
            <a:ext cx="729459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8" y="2459736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16,6 ± 0,6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926080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Árbol de decisión · sin comp.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3008376"/>
            <a:ext cx="1945804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1888" y="292608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63,5 ± 0,3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3008376"/>
            <a:ext cx="1601101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73768" y="2926080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36,5 ± 0,3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392424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Árbol de decisión · 1:10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3474720"/>
            <a:ext cx="2545509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1888" y="339242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83,1 ± 2,7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3474720"/>
            <a:ext cx="741823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73768" y="3392424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16,9 ± 2,7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858768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SVM lineal · sin comp.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3941064"/>
            <a:ext cx="1596336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1888" y="38587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52,1 ± 0,0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3941064"/>
            <a:ext cx="2101832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73768" y="3858768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47,9 ± 0,0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43251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SVM lineal · 1:10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4407408"/>
            <a:ext cx="2480792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81,0 ± 0,0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4407408"/>
            <a:ext cx="834550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3768" y="4325112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19,0 ± 0,0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791456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Random Forest propio · sin comp.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34640" y="4873752"/>
            <a:ext cx="2334102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8" y="479145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76,2 ± 1,2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4873752"/>
            <a:ext cx="1044734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73768" y="4791456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23,8 ± 1,2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257800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71717"/>
                </a:solidFill>
                <a:latin typeface="Arial"/>
              </a:rPr>
              <a:t>Random Forest propio · 1:10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34640" y="5340096"/>
            <a:ext cx="2463535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61888" y="525780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80,4 ± 0,3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5340096"/>
            <a:ext cx="859278" cy="20116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73768" y="5257800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19,6 ± 0,3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879592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Medias en %; desviaciones estándar en puntos porcentuales (pp).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RESULTADOS · COMPENSACIÓN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Árbol de decisión y Random Forest muestran el costo de recuperar fraude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Promedios en test; falsas alarmas por repetición.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10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9144000" cy="64008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84248"/>
            <a:ext cx="35478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Condición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984248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Sensibilidad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84248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Precisión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984248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FP promedio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606039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624327"/>
            <a:ext cx="35478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Árbol de decisión · sin comp.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62432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63,5%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62432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91,1%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62432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8,8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246120"/>
            <a:ext cx="9144000" cy="6400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264408"/>
            <a:ext cx="35478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Árbol de decisión · 1:10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264408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83,1%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3264408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33,6%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264408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261,6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886200"/>
            <a:ext cx="9144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904487"/>
            <a:ext cx="35478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Random Forest propio · sin comp.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390448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76,2%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90448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94,6%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390448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6,2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526279"/>
            <a:ext cx="9144000" cy="6400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544567"/>
            <a:ext cx="35478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Random Forest propio · 1:10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54456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80,4%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54456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67,5%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4544567"/>
            <a:ext cx="1719072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1717"/>
                </a:solidFill>
                <a:latin typeface="Arial"/>
              </a:rPr>
              <a:t>55,6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16636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Con 1:10, Random Forest tiene menor sensibilidad que el árbol de decisión, pero menos FP.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6928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El ganador se mantuvo según CV; no se cambió tras mirar el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RESULTADOS · SEMILLA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Matriz de confusión del ganador en un ajuste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Predicciones guardadas para la configuración elegida por CV.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4592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Predicción 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4592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Predicción fraude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79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rial"/>
              </a:rPr>
              <a:t>Real legítimo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874519"/>
            <a:ext cx="2834640" cy="10058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63EB"/>
                </a:solidFill>
                <a:latin typeface="Arial"/>
              </a:rPr>
              <a:t>84.923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51460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TN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874519"/>
            <a:ext cx="2834640" cy="1005840"/>
          </a:xfrm>
          <a:prstGeom prst="rect">
            <a:avLst/>
          </a:prstGeom>
          <a:solidFill>
            <a:srgbClr val="F3E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965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B91C1C"/>
                </a:solidFill>
                <a:latin typeface="Arial"/>
              </a:rPr>
              <a:t>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1460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FP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747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rial"/>
              </a:rPr>
              <a:t>Real fraude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108960"/>
            <a:ext cx="2834640" cy="10058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320040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B91C1C"/>
                </a:solidFill>
                <a:latin typeface="Arial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749039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FN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108960"/>
            <a:ext cx="2834640" cy="10058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20040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63EB"/>
                </a:solidFill>
                <a:latin typeface="Arial"/>
              </a:rPr>
              <a:t>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749039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TP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717"/>
                </a:solidFill>
                <a:latin typeface="Arial"/>
              </a:rPr>
              <a:t>Captura 115 de 142 fraudes; genera 53 falsas alarmas.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13832"/>
            <a:ext cx="9784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Una sola semilla explica la matriz; el resumen final promedia cinco semillas.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Ganador seleccionado por validación: Random Forest con submuestreo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La selección se fijó antes de consultar el test.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87,9% ± 5,5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79"/>
            <a:ext cx="24231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Sensibilidad CV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24231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Media ± DE · 5 pliegues.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80,4% ± 0,3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468879"/>
            <a:ext cx="24231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Sensibilidad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788920"/>
            <a:ext cx="24231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Media ± DE · cinco reajustes.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874519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67,5% ± 4,6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468879"/>
            <a:ext cx="24231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Precisión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88920"/>
            <a:ext cx="24231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Alertas que son fraude.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874519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19,6% ± 0,3 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468879"/>
            <a:ext cx="24231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rial"/>
              </a:rPr>
              <a:t>FNR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788920"/>
            <a:ext cx="24231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Fracción de fraude omitido.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6052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717"/>
                </a:solidFill>
                <a:latin typeface="Arial"/>
              </a:rPr>
              <a:t>Límites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720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Test con 142 fraudes; las cinco repeticiones comparten los casos. ANOVA F es marginal, la grilla es acotada y no se hizo validación temporal.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RESPALDO · VALIDACIÓN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Parámetros y métricas CV de los ocho experimentos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Medias en %; desviaciones estándar en pp. `weights=distance` se mantiene fijo en k-NN.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13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0698480" cy="50292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0992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70992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Muestreo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170992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Mejores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170992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Sens.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65792" y="170992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Prec. CV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94560"/>
            <a:ext cx="106984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21284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k-NN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2032" y="221284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Ninguna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21284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n_neighbors=3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21284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79,3% ± 8,6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5792" y="221284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91,2%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97480"/>
            <a:ext cx="1069848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271576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k-NN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2032" y="271576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1:10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71576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n_neighbors=3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5552" y="271576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86,6% ± 6,1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71576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37,5%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00400"/>
            <a:ext cx="106984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321868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Árbol de decisión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42032" y="321868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Ninguna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321868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max_depth=5, min_samples_leaf=5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321868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69,6% ± 18,4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321868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79,8%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03320"/>
            <a:ext cx="1069848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372160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Árbol de decisión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42032" y="372160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1:10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72160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max_depth=5, min_samples_leaf=5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372160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85,4% ± 6,4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72160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18,6%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06240"/>
            <a:ext cx="106984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" y="4224527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SVM lineal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4224527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Ninguna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6472" y="4224527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C=10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45552" y="4224527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58,7% ± 15,6 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4224527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88,5%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709160"/>
            <a:ext cx="1069848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72744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SVM lineal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42032" y="472744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1:10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76472" y="472744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C=10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45552" y="472744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86,5% ± 9,3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65792" y="472744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21,2%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212080"/>
            <a:ext cx="106984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" y="523036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Random Forest propio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2032" y="523036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Ninguna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76472" y="523036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max_depth=12, n_estimators=21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45552" y="523036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74,3% ± 14,7 pp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65792" y="523036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91,6%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715000"/>
            <a:ext cx="1069848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6072" y="5733288"/>
            <a:ext cx="18562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Random Forest propio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2032" y="5733288"/>
            <a:ext cx="11247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1:10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76472" y="5733288"/>
            <a:ext cx="395935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max_depth=6, n_estimators=21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45552" y="5733288"/>
            <a:ext cx="18105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87,9% ± 5,5 pp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65792" y="5733288"/>
            <a:ext cx="1399031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45,0%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RESPALDO · PRUEBA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Seis métricas · Sin compensación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Media en % ± desviación estándar en pp · cinco reajustes sobre el mismo test.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14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874519"/>
            <a:ext cx="11430000" cy="658368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892807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5184" y="1892807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Sens.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5384" y="1892807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Espec.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5584" y="1892807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Prec.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5784" y="1892807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544" y="1892807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Exact.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70464" y="1892807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FNR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532887"/>
            <a:ext cx="114300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2551175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k-NN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551175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74,6% ± 0,0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5384" y="2551175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99,996% ± 0,000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5584" y="2551175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97,2% ± 0,0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4" y="2551175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84,5% ± 0,0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2551175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99,95% ± 0,00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0464" y="2551175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25,4% ± 0,0 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" y="3191256"/>
            <a:ext cx="11430000" cy="65836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3209544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Árbol de decisión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15184" y="320954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63,5% ± 0,3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5384" y="320954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99,990% ± 0,002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5584" y="320954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91,1% ± 1,2 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209544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74,9% ± 0,4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4" y="3209544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99,93% ± 0,00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70464" y="3209544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36,5% ± 0,3 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" y="3849624"/>
            <a:ext cx="114300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3867911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SVM lineal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15184" y="3867911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52,1% ± 0,0 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5384" y="3867911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99,987% ± 0,000 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15584" y="3867911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87,1% ± 0,0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5784" y="3867911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65,2% ± 0,0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4544" y="3867911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99,91% ± 0,00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70464" y="3867911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47,9% ± 0,0 pp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" y="4507992"/>
            <a:ext cx="11430000" cy="65836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4526279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Random Forest propio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15184" y="4526279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76,2% ± 1,2 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15384" y="4526279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99,993% ± 0,002 pp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15584" y="4526279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94,6% ± 1,0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5784" y="4526279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84,4% ± 0,6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24544" y="4526279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99,95% ± 0,00 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70464" y="4526279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23,8% ± 1,2 pp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486400"/>
            <a:ext cx="106070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Espec. con 3 decimales y exactitud con 2 para no ocultar FP; DE en puntos porcentuales.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RESPALDO · PRUEBA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Seis métricas · Con submuestreo 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Media en % ± desviación estándar en pp · cinco reajustes sobre el mismo test.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874519"/>
            <a:ext cx="11430000" cy="658368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892807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5184" y="1892807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Sens.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5384" y="1892807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Espec.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5584" y="1892807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Prec.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5784" y="1892807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544" y="1892807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Exact.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70464" y="1892807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FNR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532887"/>
            <a:ext cx="114300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2551175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k-NN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551175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83,4% ± 0,6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5384" y="2551175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99,681% ± 0,056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5584" y="2551175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30,7% ± 3,7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4" y="2551175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44,8% ± 3,9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2551175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99,65% ± 0,06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0464" y="2551175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16,6% ± 0,6 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" y="3191256"/>
            <a:ext cx="11430000" cy="65836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3209544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Árbol de decisión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15184" y="320954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83,1% ± 2,7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5384" y="320954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99,692% ± 0,138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5584" y="320954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33,6% ± 10,1 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3209544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47,0% ± 9,6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4" y="3209544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99,66% ± 0,13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70464" y="3209544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16,9% ± 2,7 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" y="3849624"/>
            <a:ext cx="114300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3867911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SVM lineal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15184" y="3867911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81,0% ± 0,0 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5384" y="3867911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99,885% ± 0,036 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15584" y="3867911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54,8% ± 7,4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5784" y="3867911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65,2% ± 5,4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4544" y="3867911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99,85% ± 0,04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70464" y="3867911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19,0% ± 0,0 pp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" y="4507992"/>
            <a:ext cx="11430000" cy="65836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4526279"/>
            <a:ext cx="19476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Random Forest propio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15184" y="4526279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80,4% ± 0,3 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15384" y="4526279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99,935% ± 0,014 pp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15584" y="4526279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67,5% ± 4,6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5784" y="4526279"/>
            <a:ext cx="1399031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73,3% ± 2,8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24544" y="4526279"/>
            <a:ext cx="15361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99,90% ± 0,01 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70464" y="4526279"/>
            <a:ext cx="13075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1717"/>
                </a:solidFill>
                <a:latin typeface="Arial"/>
              </a:rPr>
              <a:t>19,6% ± 0,3 pp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486400"/>
            <a:ext cx="106070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Espec. con 3 decimales y exactitud con 2 para no ocultar FP; DE en puntos porcentuales.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530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Arial"/>
              </a:rPr>
              <a:t>RESPALDO ·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71717"/>
                </a:solidFill>
                <a:latin typeface="Arial"/>
              </a:rPr>
              <a:t>Dos reglas simples muestran el costo del desbalance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61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Cálculos sobre el test principal, con 84.976 legítimas y 142 fraudes.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12648" y="6556248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INFO1185 · Detección de fraude · datos y resultados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53796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16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4892040" cy="1874519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84831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717"/>
                </a:solidFill>
                <a:latin typeface="Arial"/>
              </a:rPr>
              <a:t>Siempre legítimo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78608"/>
            <a:ext cx="4297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Exactitud 99,833% · sensibilidad 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63240"/>
            <a:ext cx="4297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142 fraudes omitidos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74519"/>
            <a:ext cx="4892040" cy="1874519"/>
          </a:xfrm>
          <a:prstGeom prst="rect">
            <a:avLst/>
          </a:prstGeom>
          <a:solidFill>
            <a:srgbClr val="F3E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084831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717"/>
                </a:solidFill>
                <a:latin typeface="Arial"/>
              </a:rPr>
              <a:t>Siempre fraude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78608"/>
            <a:ext cx="4297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Sensibilidad 100% · especificidad 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63240"/>
            <a:ext cx="4297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84.976 falsas alarmas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8680" y="4251960"/>
            <a:ext cx="1033272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4526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717"/>
                </a:solidFill>
                <a:latin typeface="Arial"/>
              </a:rPr>
              <a:t>Por qué se busca sensibilidad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4572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El costo de omitir fraude puede ser alto; la precisión y los FP miden la carga de revisión.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5262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717"/>
                </a:solidFill>
                <a:latin typeface="Arial"/>
              </a:rPr>
              <a:t>Siguientes mejoras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937760"/>
            <a:ext cx="46634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Probar umbrales, calibración, validación temporal y nuevos datos solo con un test nuevo y separado.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fraude con clasificadores supervisados</dc:title>
  <dc:subject>Respaldo local reproducible basado en resultados guardados</dc:subject>
  <dc:creator>Fernando Alonso Valdés Gómez; Juan Francisco Muñoz Veloso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