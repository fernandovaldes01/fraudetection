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presentar el objetivo. La sensibilidad de fraude es el criterio prioritario; las falsas alarmas ayudan a entender el costo. Duración prevista de las principales: 10–12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fuente Kaggle, descarga pública TensorFlow. Eliminamos 1081 duplicados exactos para impedir copias entre train y test. No hay faltantes. Los V1–V28 ya vienen de PCA; no aplicamos otro PCA. La muestra estratificada reduce el costo de los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explicar que validación y test no se balancean. Cada pliegue ajusta sus transformaciones solo en su entrenamiento. Las ocho búsquedas terminan y seleccion.json se guarda antes de evaluar prueba. Ninguna decisión usa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ANOVA detecta diferencias marginales de medias, pero no todas las interacciones. k=20 se fijó antes de evaluar. Escalamos k-NN y SVM porque usan distancias; árboles no lo necesitan. Ratio 0.1 retiene diez legítimas por fraude y todos los fraudes del entrenamiento del pliegue. Los recuentos están guardados.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recorrer forest.py. Cada árbol recibe n índices con reemplazo, por eso hay repeticiones. Usamos semillas distintas y max_features=sqrt en cada división. El bootstrap parte del train disponible, ya compensado si corresponde. No usamos RandomForestClassifier ni BaggingClassifier. Los votos son etiquetas.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comparar vecindades, profundidad y regularización. Se fijan 31 árboles y selección de 20 variables para acotar el costo. La grilla es pequeña, por lo que no se afirma haber encontrado el óptimo global. Ningún valor se eligió mirando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k-NN compara k=3/7; árbol profundidad 6/libre; SVM RBF C=1/10; bosque profundidad 8/libre. Árbol y bosque fijan dos ejemplos por hoja. Estos espacios exploran suavidad, complejidad y regularización a costo acotado. La tabla usa sensibilidad media y desviación entre pliegues. Empate por precisión.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valores calculados con fraude como positivo. Sensibilidad=TP/(TP+FN), especificidad=TN/(TN+FP), precisión=TP/(TP+FP), F1=2TP/(2TP+FP+FN), exactitud=(TP+TN)/N y FNR=1-sensibilidad. Desviación cero puede indicar un procedimiento determinista; no certeza poblacional.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valores calculados con fraude como positivo. Sensibilidad=TP/(TP+FN), especificidad=TN/(TN+FP), precisión=TP/(TP+FP), F1=2TP/(2TP+FP+FN), exactitud=(TP+TN)/N y FNR=1-sensibilidad. Desviación cero puede indicar un procedimiento determinista; no certeza poblacional.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comparar fraudes detectados con falsas alarmas. k-NN: compensar cambia los fraudes detectados en +9.33 y las falsas alarmas en +125.33, medias de los tres ajustes. Árbol: compensar cambia los fraudes detectados en +4.67 y las falsas alarmas en +493.33, medias de los tres ajustes. SVM: compensar cambia los fraudes detectados en +8.00 y las falsas alarmas en +124.33, medias de los tres ajustes. Bosque propio: compensar cambia los fraudes detectados en +8.00 y las falsas alarmas en +25.00, medias de los tres ajustes.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Sin compensación: bosque frente a árbol cambia la sensibilidad en -1.33 puntos porcentuales y las falsas alarmas en -4.67. Con compensación: bosque frente a árbol cambia la sensibilidad en +5.33 puntos porcentuales y las falsas alarmas en -473.00. El bagging busca reducir la variación y max_features reduce la correlación. La exactitud oculta el desbalance; nunca decide la selección.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Ambos integrantes: Elegido por validación: Árbol · con compensación. Sensibilidad CV 87.14 ± 2.87 %; sensibilidad test 75.33 ± 4.62 %; precisión test 7.02 ± 0.55 %. El test contiene 50 fraudes. Pocos positivos hacen sensibles las métricas a cada error individual. La desviación en test mide variación del ajuste sobre un test fijo; no estima incertidumbre sobre otras muestras ni es un intervalo de confianza. La muestra reduce el costo computacional, pero descarta fraudes y limita la comparación. El submuestreo también elimina legítimas potencialmente informativas. La partición aleatoria exigida no valida cambios temporales ni otros bancos. ANOVA es un criterio marginal y puede descartar interacciones útiles. El bosque reduce correlación al combinar bootstrap y variables aleatorias; sus beneficios deben juzgarse por los resultados, sin suponer una mejora automática. Mejoras futuras: más datos y fraudes, validación temporal y grillas más amplias; esas mejoras requieren un nuevo protocolo y un test aún no utilizado.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si se solicita explicar TP, FN, FP o TN. Las otras semillas y conteos individuales están en prueba_repeticiones.csv y predicciones.csv.gz.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si se solicita explicar TP, FN, FP o TN. Las otras semillas y conteos individuales están en prueba_repeticiones.csv y predicciones.csv.gz.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ANOVA se ajusta antes de remuestrear. Con el mismo train y k=20, la selección puede ser idéntica para todos los modelos. Las tres semillas están registradas.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ANOVA se ajusta antes de remuestrear. Con el mismo train y k=20, la selección puede ser idéntica para todos los modelos. Las tres semillas están registradas.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Detectar fraude: minimizar lo que se pierde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Comparación de cuatro clasificadores, con y sin compensación del desbalance.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3440"/>
                </a:solidFill>
                <a:latin typeface="Liberation Sans"/>
              </a:defRPr>
            </a:pPr>
            <a:r>
              <a:t>k-NN · Árbol de decisión · SVM · Random Forest propio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3440"/>
                </a:solidFill>
                <a:latin typeface="Liberation Sans"/>
              </a:defRPr>
            </a:pPr>
            <a:r>
              <a:t>Prioridad: mayor sensibilidad. Desempate: mayor precisión del fraude.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3440"/>
                </a:solidFill>
                <a:latin typeface="Liberation Sans"/>
              </a:defRPr>
            </a:pPr>
            <a:r>
              <a:t>Ocho experimentos, una partición compartida y evaluación reservada.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3440"/>
                </a:solidFill>
                <a:latin typeface="Liberation Sans"/>
              </a:defRPr>
            </a:pPr>
            <a:r>
              <a:t>Fernando Alonso Valdés Gómez</a:t>
            </a:r>
            <a:br/>
            <a:r>
              <a:t>Juan Francisco Muñoz Veloso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Pocos fraudes, muchas transacciones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284,807 filas originales → 283,726 únicas → 100,000 en la muestra.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Kaggle / copia TensorFlow. 30 predictores: Time, Amount, V1–V28. Class: 0 legítima, 1 fraude. Sin faltantes; 1,081 duplicados eliminados.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Original: 492 fraudes (0.173 %). Muestra: 167 (0.167 %), legítimas 99.833 %. Train/test: 117/50 fraudes.</a:t>
            </a:r>
          </a:p>
        </p:txBody>
      </p:sp>
      <p:pic>
        <p:nvPicPr>
          <p:cNvPr id="8" name="Picture 7" descr="distribu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1088136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El test se abre después de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Partición estratificada 70/30, semilla 42; cinco pliegues idénticos en entrenamiento.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Entrenamiento → cinco pliegues → búsqueda → configuraciones congeladas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Dentro del pliegue: escalado → selección → compensación → clasificador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Reajuste completo → test fijo con tres semillas 42, 43 y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CV: desviación entre pliegues. Test: variación entre ajustes, ddof=1.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Seleccionar variables y compensar dentro del 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20 de 30 predictores mediante ANOVA F. Class nunca se incluye en 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k-NN y SVM se escalan por usar distancias; árboles no dependen de unidades.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ANOVA compara medias marginales; 20 variables acotan el costo. No se aplica otro PCA.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Selección supervisada antes del submuestreo, solo con el train del pliegue.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Con compensación: un fraude por diez transacciones legítimas.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Un bosque construido por la dupla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31 árboles: bootstrap con reemplazo, variables aleatorias y votación mayoritaria.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Por árbol: n filas con reemplazo y semilla propia → un DecisionTreeClassifier.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En cada división: considerar sqrt del número de variables disponibles.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Predicción final: mayoría de etiquetas; 31 árboles evita empates.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73440"/>
                </a:solidFill>
                <a:latin typeface="Liberation Sans"/>
              </a:defRPr>
            </a:pPr>
            <a:r>
              <a:t>Configurables: árboles, profundidad, max_features, hoja mínima y semilla.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440"/>
                </a:solidFill>
                <a:latin typeface="Liberation Sans"/>
              </a:defRPr>
            </a:pPr>
            <a:r>
              <a:t>Bagging combina modelos entrenados en bootstrap para reducir variación; max_features busca reducir la correlación entre árboles.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Espacios de búsqueda fijados antes de evaluar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Misma grilla con y sin compensación. Dos candidatos por modelo; 80 ajustes de CV.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17520"/>
                <a:gridCol w="6309360"/>
              </a:tblGrid>
              <a:tr h="6400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Candidatos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Parámetros fijos y motivo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Vecinos: 3,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Distancia euclídea; comparar vecindad pequeña y mayor.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Profundidad: 6, libre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Hoja mínima 2; complejidad acotada y libre.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C: 1,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RBF, gamma=scale; regularización moderada y menor.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Profundidad: 8, libre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31 árboles, sqrt, hoja mínima 2; diversidad y costo.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440"/>
                </a:solidFill>
                <a:latin typeface="Liberation Sans"/>
              </a:defRPr>
            </a:pPr>
            <a:r>
              <a:t>Prioridad: sensibilidad media. Empate exacto: precisión media; si persiste, primer candidato de la grilla.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Búsqueda acotada, selección por sensibilidad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Dos candidatos por modelo × cinco pliegues × ocho condiciones = 80 ajustes de CV.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112471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703320"/>
                <a:gridCol w="3703320"/>
              </a:tblGrid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Parámetro elegido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Sensibilidad %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n_neighbors=7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76.01 ± 6.62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n_neighbors=3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82.90 ± 2.77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max_depth=6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69.28 ± 3.74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max_depth=None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87.14 ± 2.87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C=10.0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41.05 ± 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C=10.0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83.73 ± 3.35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max_depth=None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71.01 ± 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max_depth=8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82.90 ± 2.77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Prueba: detectar fraude y controlar las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Porcentajes: media ± desviación de tres ajustes sobre el mismo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11247117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468879"/>
                <a:gridCol w="2468879"/>
                <a:gridCol w="2468879"/>
              </a:tblGrid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Sensibilidad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Especificidad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Precisión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62.00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99.99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88.57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80.67 ± 1.15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99.57 ± 0.13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24.73 ± 6.45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66.00 ± 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99.98 ±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82.60 ± 3.71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75.33 ± 4.62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98.33 ± 0.14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7.02 ± 0.55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66.00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99.99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94.29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82.00 ± 0.00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99.58 ± 0.01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24.51 ± 0.45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64.67 ± 3.06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99.99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93.25 ± 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80.67 ± 2.31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99.91 ± 0.03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60.42 ± 8.07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Prueba: F1, exactitud y falsos negativos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Porcentajes: media ± desviación de tres ajustes sobre el mismo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11247117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468879"/>
                <a:gridCol w="2468879"/>
                <a:gridCol w="2468879"/>
              </a:tblGrid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Exactitud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Tasa FN</a:t>
                      </a:r>
                    </a:p>
                  </a:txBody>
                  <a:tcPr>
                    <a:solidFill>
                      <a:srgbClr val="173440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72.94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99.92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38.00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k-NN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37.58 ± 7.52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99.54 ± 0.13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19.33 ± 1.15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73.34 ± 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99.92 ±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34.00 ± 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Árbol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12.84 ± 0.94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98.29 ± 0.14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24.67 ± 4.62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77.65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99.94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34.00 ± 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SVM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37.74 ± 0.53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99.55 ± 0.01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18.00 ± 0.00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 · sin compensación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76.36 ± 2.63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99.93 ±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35.33 ± 3.06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Bosque propio · con compensación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68.80 ± 4.22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99.88 ± 0.03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73440"/>
                          </a:solidFill>
                          <a:latin typeface="Liberation Sans"/>
                        </a:defRPr>
                      </a:pPr>
                      <a:r>
                        <a:t>19.33 ± 2.31</a:t>
                      </a:r>
                    </a:p>
                  </a:txBody>
                  <a:tcPr>
                    <a:solidFill>
                      <a:srgbClr val="E6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El costo de detectar 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Azul: sin compensación. Naranja: con compensación. Medias de tres ajustes.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10</a:t>
            </a:r>
          </a:p>
        </p:txBody>
      </p:sp>
      <p:pic>
        <p:nvPicPr>
          <p:cNvPr id="6" name="Picture 5" descr="cos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11064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Árbol frente a bosque; exactitud frente a sensibilidad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Combinar árboles no garantiza mejorar cada métrica en cada condición.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73440"/>
                </a:solidFill>
                <a:latin typeface="Liberation Sans"/>
              </a:defRPr>
            </a:pPr>
            <a:r>
              <a:t>Sin compensación: bosque frente a árbol cambia la sensibilidad en -1.33 puntos porcentuales y las falsas alarmas en -4.67.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73440"/>
                </a:solidFill>
                <a:latin typeface="Liberation Sans"/>
              </a:defRPr>
            </a:pPr>
            <a:r>
              <a:t>Con compensación: bosque frente a árbol cambia la sensibilidad en +5.33 puntos porcentuales y las falsas alarmas en -473.00.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73440"/>
                </a:solidFill>
                <a:latin typeface="Liberation Sans"/>
              </a:defRPr>
            </a:pPr>
            <a:r>
              <a:t>Siempre legítimo: exactitud 99.833 %, sensibilidad 0 %; 50 fraudes omitidos.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73440"/>
                </a:solidFill>
                <a:latin typeface="Liberation Sans"/>
              </a:defRPr>
            </a:pPr>
            <a:r>
              <a:t>Siempre fraude: sensibilidad 100 %; 29,950 falsas alarmas.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Configuración elegida y límites de la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El ganador se eligió por validación, antes de mirar los resultados de prueba.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440"/>
                </a:solidFill>
                <a:latin typeface="Liberation Sans"/>
              </a:defRPr>
            </a:pPr>
            <a:r>
              <a:t>Elegido por validación: Árbol · con compensación. Sensibilidad CV 87.14 ± 2.87 %; sensibilidad test 75.33 ± 4.62 %; precisión test 7.02 ± 0.55 %.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440"/>
                </a:solidFill>
                <a:latin typeface="Liberation Sans"/>
              </a:defRPr>
            </a:pPr>
            <a:r>
              <a:t>Solo 50 fraudes. La desviación entre ajustes no mide incertidumbre sobre nuevas muestras.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440"/>
                </a:solidFill>
                <a:latin typeface="Liberation Sans"/>
              </a:defRPr>
            </a:pPr>
            <a:r>
              <a:t>Muestreo y submuestreo pierden información; ANOVA es marginal y la grilla es pequeña.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440"/>
                </a:solidFill>
                <a:latin typeface="Liberation Sans"/>
              </a:defRPr>
            </a:pPr>
            <a:r>
              <a:t>La división aleatoria no valida cambios temporales ni generalización a otros bancos.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3440"/>
                </a:solidFill>
                <a:latin typeface="Liberation Sans"/>
              </a:defRPr>
            </a:pPr>
            <a:r>
              <a:t>Mejoras futuras: más fraudes, validación temporal y grillas más amplias. Requieren un nuevo protocolo y un test no utilizado.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Respaldo: matrices de confusión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Semilla 42. Filas: clase real; columnas: predicción. Fraude es la clase positiva.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13</a:t>
            </a:r>
          </a:p>
        </p:txBody>
      </p:sp>
      <p:pic>
        <p:nvPicPr>
          <p:cNvPr id="6" name="Picture 5" descr="matriz_knn_sin_compens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3886200" cy="2240280"/>
          </a:xfrm>
          <a:prstGeom prst="rect">
            <a:avLst/>
          </a:prstGeom>
        </p:spPr>
      </p:pic>
      <p:pic>
        <p:nvPicPr>
          <p:cNvPr id="7" name="Picture 6" descr="matriz_knn_con_compens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65960"/>
            <a:ext cx="3886200" cy="2240280"/>
          </a:xfrm>
          <a:prstGeom prst="rect">
            <a:avLst/>
          </a:prstGeom>
        </p:spPr>
      </p:pic>
      <p:pic>
        <p:nvPicPr>
          <p:cNvPr id="8" name="Picture 7" descr="matriz_tree_sin_compens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51960"/>
            <a:ext cx="3886200" cy="2240280"/>
          </a:xfrm>
          <a:prstGeom prst="rect">
            <a:avLst/>
          </a:prstGeom>
        </p:spPr>
      </p:pic>
      <p:pic>
        <p:nvPicPr>
          <p:cNvPr id="9" name="Picture 8" descr="matriz_tree_con_compensa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51960"/>
            <a:ext cx="388620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Respaldo: matrices de confusión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Semilla 42. Filas: clase real; columnas: predicción. Fraude es la clase positiva.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14</a:t>
            </a:r>
          </a:p>
        </p:txBody>
      </p:sp>
      <p:pic>
        <p:nvPicPr>
          <p:cNvPr id="6" name="Picture 5" descr="matriz_svm_sin_compens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3886200" cy="2240280"/>
          </a:xfrm>
          <a:prstGeom prst="rect">
            <a:avLst/>
          </a:prstGeom>
        </p:spPr>
      </p:pic>
      <p:pic>
        <p:nvPicPr>
          <p:cNvPr id="7" name="Picture 6" descr="matriz_svm_con_compens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65960"/>
            <a:ext cx="3886200" cy="2240280"/>
          </a:xfrm>
          <a:prstGeom prst="rect">
            <a:avLst/>
          </a:prstGeom>
        </p:spPr>
      </p:pic>
      <p:pic>
        <p:nvPicPr>
          <p:cNvPr id="8" name="Picture 7" descr="matriz_forest_sin_compens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51960"/>
            <a:ext cx="3886200" cy="2240280"/>
          </a:xfrm>
          <a:prstGeom prst="rect">
            <a:avLst/>
          </a:prstGeom>
        </p:spPr>
      </p:pic>
      <p:pic>
        <p:nvPicPr>
          <p:cNvPr id="9" name="Picture 8" descr="matriz_forest_con_compensa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51960"/>
            <a:ext cx="388620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Respaldo: características y recuentos finales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Selección reajustada con todo el entrenamiento, semilla 42.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k-NN · sin compensación: V1, V2, V3, V4, V5, V6, V7, V8, V9, V10, V11, V12, V14, V16, V17, V18, V19, V20, V21, V27</a:t>
            </a:r>
            <a:br/>
            <a:r>
              <a:t>Train antes {'0': 69883, '1': 117}; después {'0': 69883, '1': 117}.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k-NN · con compensación: V1, V2, V3, V4, V5, V6, V7, V8, V9, V10, V11, V12, V14, V16, V17, V18, V19, V20, V21, V27</a:t>
            </a:r>
            <a:br/>
            <a:r>
              <a:t>Train antes {'0': 69883, '1': 117}; después {'0': 1170, '1': 117}.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Árbol · sin compensación: V1, V2, V3, V4, V5, V6, V7, V8, V9, V10, V11, V12, V14, V16, V17, V18, V19, V20, V21, V27</a:t>
            </a:r>
            <a:br/>
            <a:r>
              <a:t>Train antes {'0': 69883, '1': 117}; después {'0': 69883, '1': 117}.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Árbol · con compensación: V1, V2, V3, V4, V5, V6, V7, V8, V9, V10, V11, V12, V14, V16, V17, V18, V19, V20, V21, V27</a:t>
            </a:r>
            <a:br/>
            <a:r>
              <a:t>Train antes {'0': 69883, '1': 117}; después {'0': 1170, '1': 117}.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INFO1185  /  FRAUDETECTION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440"/>
                </a:solidFill>
                <a:latin typeface="Liberation Sans"/>
              </a:defRPr>
            </a:pPr>
            <a:r>
              <a:t>Respaldo: características y recuentos finales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Selección reajustada con todo el entrenamiento, semilla 42.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73440"/>
                </a:solidFill>
                <a:latin typeface="Liberation San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SVM · sin compensación: V1, V2, V3, V4, V5, V6, V7, V8, V9, V10, V11, V12, V14, V16, V17, V18, V19, V20, V21, V27</a:t>
            </a:r>
            <a:br/>
            <a:r>
              <a:t>Train antes {'0': 69883, '1': 117}; después {'0': 69883, '1': 117}.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SVM · con compensación: V1, V2, V3, V4, V5, V6, V7, V8, V9, V10, V11, V12, V14, V16, V17, V18, V19, V20, V21, V27</a:t>
            </a:r>
            <a:br/>
            <a:r>
              <a:t>Train antes {'0': 69883, '1': 117}; después {'0': 1170, '1': 117}.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Bosque propio · sin compensación: V1, V2, V3, V4, V5, V6, V7, V8, V9, V10, V11, V12, V14, V16, V17, V18, V19, V20, V21, V27</a:t>
            </a:r>
            <a:br/>
            <a:r>
              <a:t>Train antes {'0': 69883, '1': 117}; después {'0': 69883, '1': 117}.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3440"/>
                </a:solidFill>
                <a:latin typeface="Liberation Sans"/>
              </a:defRPr>
            </a:pPr>
            <a:r>
              <a:t>Bosque propio · con compensación: V1, V2, V3, V4, V5, V6, V7, V8, V9, V10, V11, V12, V14, V16, V17, V18, V19, V20, V21, V27</a:t>
            </a:r>
            <a:br/>
            <a:r>
              <a:t>Train antes {'0': 69883, '1': 117}; después {'0': 1170, '1': 117}.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